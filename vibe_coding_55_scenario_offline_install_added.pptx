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312" r:id="rId28"/>
    <p:sldId id="313" r:id="rId63"/>
    <p:sldId id="314" r:id="rId64"/>
    <p:sldId id="315" r:id="rId65"/>
    <p:sldId id="268" r:id="rId19"/>
    <p:sldId id="269" r:id="rId20"/>
    <p:sldId id="270" r:id="rId21"/>
    <p:sldId id="271" r:id="rId22"/>
    <p:sldId id="272" r:id="rId23"/>
    <p:sldId id="273" r:id="rId24"/>
    <p:sldId id="274" r:id="rId25"/>
    <p:sldId id="275" r:id="rId26"/>
    <p:sldId id="276" r:id="rId27"/>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13.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14.xml"/><Relationship Id="rId64" Type="http://schemas.openxmlformats.org/officeDocument/2006/relationships/slide" Target="slides/slide15.xml"/><Relationship Id="rId65"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2642"/>
        </a:solidFill>
        <a:effectLst/>
      </p:bgPr>
    </p:bg>
    <p:spTree>
      <p:nvGrpSpPr>
        <p:cNvPr id="1" name=""/>
        <p:cNvGrpSpPr/>
        <p:nvPr/>
      </p:nvGrpSpPr>
      <p:grpSpPr/>
      <p:pic>
        <p:nvPicPr>
          <p:cNvPr id="2" name="Picture 1" descr="tmp_crop_5678820612368892036.jpg"/>
          <p:cNvPicPr>
            <a:picLocks noChangeAspect="1"/>
          </p:cNvPicPr>
          <p:nvPr/>
        </p:nvPicPr>
        <p:blipFill>
          <a:blip r:embed="rId2"/>
          <a:stretch>
            <a:fillRect/>
          </a:stretch>
        </p:blipFill>
        <p:spPr>
          <a:xfrm>
            <a:off x="5212080" y="0"/>
            <a:ext cx="6995160" cy="6858000"/>
          </a:xfrm>
          <a:prstGeom prst="rect">
            <a:avLst/>
          </a:prstGeom>
        </p:spPr>
      </p:pic>
      <p:sp>
        <p:nvSpPr>
          <p:cNvPr id="3" name="Rectangle 2"/>
          <p:cNvSpPr/>
          <p:nvPr/>
        </p:nvSpPr>
        <p:spPr>
          <a:xfrm>
            <a:off x="0" y="0"/>
            <a:ext cx="5577840" cy="6858000"/>
          </a:xfrm>
          <a:prstGeom prst="rect">
            <a:avLst/>
          </a:prstGeom>
          <a:solidFill>
            <a:srgbClr val="09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60120"/>
            <a:ext cx="4389120" cy="320040"/>
          </a:xfrm>
          <a:prstGeom prst="rect">
            <a:avLst/>
          </a:prstGeom>
          <a:noFill/>
        </p:spPr>
        <p:txBody>
          <a:bodyPr wrap="square" lIns="0" rIns="0" tIns="0" bIns="0">
            <a:normAutofit/>
          </a:bodyPr>
          <a:lstStyle/>
          <a:p>
            <a:r>
              <a:rPr sz="2000" b="1">
                <a:solidFill>
                  <a:srgbClr val="F3C56B"/>
                </a:solidFill>
                <a:latin typeface="Malgun Gothic"/>
              </a:rPr>
              <a:t>업무 자동화를 위한</a:t>
            </a:r>
          </a:p>
        </p:txBody>
      </p:sp>
      <p:sp>
        <p:nvSpPr>
          <p:cNvPr id="5" name="TextBox 4"/>
          <p:cNvSpPr txBox="1"/>
          <p:nvPr/>
        </p:nvSpPr>
        <p:spPr>
          <a:xfrm>
            <a:off x="685800" y="1417320"/>
            <a:ext cx="4572000" cy="1508760"/>
          </a:xfrm>
          <a:prstGeom prst="rect">
            <a:avLst/>
          </a:prstGeom>
          <a:noFill/>
        </p:spPr>
        <p:txBody>
          <a:bodyPr wrap="square" lIns="0" rIns="0" tIns="0" bIns="0">
            <a:normAutofit/>
          </a:bodyPr>
          <a:lstStyle/>
          <a:p>
            <a:r>
              <a:rPr sz="4000" b="1">
                <a:solidFill>
                  <a:srgbClr val="FFFFFF"/>
                </a:solidFill>
                <a:latin typeface="Malgun Gothic"/>
              </a:rPr>
              <a:t>바이브 코딩
실습 교육</a:t>
            </a:r>
          </a:p>
        </p:txBody>
      </p:sp>
      <p:sp>
        <p:nvSpPr>
          <p:cNvPr id="6" name="TextBox 5"/>
          <p:cNvSpPr txBox="1"/>
          <p:nvPr/>
        </p:nvSpPr>
        <p:spPr>
          <a:xfrm>
            <a:off x="713232" y="3593592"/>
            <a:ext cx="4572000" cy="347472"/>
          </a:xfrm>
          <a:prstGeom prst="rect">
            <a:avLst/>
          </a:prstGeom>
          <a:noFill/>
        </p:spPr>
        <p:txBody>
          <a:bodyPr wrap="square" lIns="0" rIns="0" tIns="0" bIns="0">
            <a:normAutofit/>
          </a:bodyPr>
          <a:lstStyle/>
          <a:p>
            <a:r>
              <a:rPr sz="1700" b="1">
                <a:solidFill>
                  <a:srgbClr val="FFFFFF"/>
                </a:solidFill>
                <a:latin typeface="Malgun Gothic"/>
              </a:rPr>
              <a:t>도입부 → 초급 엑셀 취합 → 중급 표도우미</a:t>
            </a:r>
          </a:p>
        </p:txBody>
      </p:sp>
      <p:sp>
        <p:nvSpPr>
          <p:cNvPr id="7" name="TextBox 6"/>
          <p:cNvSpPr txBox="1"/>
          <p:nvPr/>
        </p:nvSpPr>
        <p:spPr>
          <a:xfrm>
            <a:off x="713232" y="4041648"/>
            <a:ext cx="4480560" cy="292608"/>
          </a:xfrm>
          <a:prstGeom prst="rect">
            <a:avLst/>
          </a:prstGeom>
          <a:noFill/>
        </p:spPr>
        <p:txBody>
          <a:bodyPr wrap="square" lIns="0" rIns="0" tIns="0" bIns="0">
            <a:normAutofit/>
          </a:bodyPr>
          <a:lstStyle/>
          <a:p>
            <a:r>
              <a:rPr sz="1250" b="0">
                <a:solidFill>
                  <a:srgbClr val="B8CBE0"/>
                </a:solidFill>
                <a:latin typeface="Malgun Gothic"/>
              </a:rPr>
              <a:t>경찰서 250여 개 엑셀 자료 취합 사례로 시작합니다</a:t>
            </a:r>
          </a:p>
        </p:txBody>
      </p:sp>
      <p:sp>
        <p:nvSpPr>
          <p:cNvPr id="8" name="Rectangle 7"/>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표지</a:t>
            </a:r>
          </a:p>
        </p:txBody>
      </p:sp>
      <p:sp>
        <p:nvSpPr>
          <p:cNvPr id="10" name="TextBox 9"/>
          <p:cNvSpPr txBox="1"/>
          <p:nvPr/>
        </p:nvSpPr>
        <p:spPr>
          <a:xfrm>
            <a:off x="11201400" y="6556248"/>
            <a:ext cx="384048" cy="164592"/>
          </a:xfrm>
          <a:prstGeom prst="rect">
            <a:avLst/>
          </a:prstGeom>
          <a:noFill/>
        </p:spPr>
        <p:txBody>
          <a:bodyPr wrap="square" lIns="0" rIns="0" tIns="0" bIns="0">
            <a:normAutofit/>
          </a:bodyPr>
          <a:lstStyle/>
          <a:p>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COURSE FLOW</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전체 교육 구성</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t>기존 55장 시나리오와 만화형 흐름은 그대로 유지하고, 내부망 설치 단계만 보강했습니다.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2401165903223160982.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교육 구성</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2</a:t>
            </a:r>
          </a:p>
        </p:txBody>
      </p:sp>
      <p:sp>
        <p:nvSpPr>
          <p:cNvPr id="10" name="Rounded Rectangle 9"/>
          <p:cNvSpPr/>
          <p:nvPr/>
        </p:nvSpPr>
        <p:spPr>
          <a:xfrm>
            <a:off x="804672" y="1874519"/>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256032" cy="164592"/>
          </a:xfrm>
          <a:prstGeom prst="rect">
            <a:avLst/>
          </a:prstGeom>
          <a:noFill/>
        </p:spPr>
        <p:txBody>
          <a:bodyPr wrap="square" lIns="0" rIns="0" tIns="0" bIns="0">
            <a:normAutofit/>
          </a:bodyPr>
          <a:lstStyle/>
          <a:p>
            <a:r>
              <a:rPr sz="1100" b="1">
                <a:solidFill>
                  <a:srgbClr val="D8A94A"/>
                </a:solidFill>
                <a:latin typeface="Malgun Gothic"/>
              </a:rPr>
              <a:t>1</a:t>
            </a:r>
          </a:p>
        </p:txBody>
      </p:sp>
      <p:sp>
        <p:nvSpPr>
          <p:cNvPr id="12" name="TextBox 11"/>
          <p:cNvSpPr txBox="1"/>
          <p:nvPr/>
        </p:nvSpPr>
        <p:spPr>
          <a:xfrm>
            <a:off x="1280160" y="1984248"/>
            <a:ext cx="5422392" cy="164592"/>
          </a:xfrm>
          <a:prstGeom prst="rect">
            <a:avLst/>
          </a:prstGeom>
          <a:noFill/>
        </p:spPr>
        <p:txBody>
          <a:bodyPr wrap="square" lIns="0" rIns="0" tIns="0" bIns="0">
            <a:normAutofit/>
          </a:bodyPr>
          <a:lstStyle/>
          <a:p>
            <a:r>
              <a:rPr sz="1150" b="1">
                <a:solidFill>
                  <a:srgbClr val="092642"/>
                </a:solidFill>
                <a:latin typeface="Malgun Gothic"/>
              </a:rPr>
              <a:t>도입부: 250개 경찰서 파일 취합의 고통</a:t>
            </a:r>
          </a:p>
        </p:txBody>
      </p:sp>
      <p:sp>
        <p:nvSpPr>
          <p:cNvPr id="13" name="Rounded Rectangle 12"/>
          <p:cNvSpPr/>
          <p:nvPr/>
        </p:nvSpPr>
        <p:spPr>
          <a:xfrm>
            <a:off x="804672" y="2624327"/>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734056"/>
            <a:ext cx="256032" cy="164592"/>
          </a:xfrm>
          <a:prstGeom prst="rect">
            <a:avLst/>
          </a:prstGeom>
          <a:noFill/>
        </p:spPr>
        <p:txBody>
          <a:bodyPr wrap="square" lIns="0" rIns="0" tIns="0" bIns="0">
            <a:normAutofit/>
          </a:bodyPr>
          <a:lstStyle/>
          <a:p>
            <a:r>
              <a:rPr sz="1100" b="1">
                <a:solidFill>
                  <a:srgbClr val="D8A94A"/>
                </a:solidFill>
                <a:latin typeface="Malgun Gothic"/>
              </a:rPr>
              <a:t>2</a:t>
            </a:r>
          </a:p>
        </p:txBody>
      </p:sp>
      <p:sp>
        <p:nvSpPr>
          <p:cNvPr id="15" name="TextBox 14"/>
          <p:cNvSpPr txBox="1"/>
          <p:nvPr/>
        </p:nvSpPr>
        <p:spPr>
          <a:xfrm>
            <a:off x="1280160" y="2734056"/>
            <a:ext cx="5422392" cy="164592"/>
          </a:xfrm>
          <a:prstGeom prst="rect">
            <a:avLst/>
          </a:prstGeom>
          <a:noFill/>
        </p:spPr>
        <p:txBody>
          <a:bodyPr wrap="square" lIns="0" rIns="0" tIns="0" bIns="0">
            <a:normAutofit/>
          </a:bodyPr>
          <a:lstStyle/>
          <a:p>
            <a:r>
              <a:rPr sz="1150" b="1">
                <a:solidFill>
                  <a:srgbClr val="092642"/>
                </a:solidFill>
                <a:latin typeface="Malgun Gothic"/>
              </a:rPr>
              <a:t>초급: 개발환경 세팅과 엑셀 취합 실습</a:t>
            </a:r>
          </a:p>
        </p:txBody>
      </p:sp>
      <p:sp>
        <p:nvSpPr>
          <p:cNvPr id="16" name="Rounded Rectangle 15"/>
          <p:cNvSpPr/>
          <p:nvPr/>
        </p:nvSpPr>
        <p:spPr>
          <a:xfrm>
            <a:off x="804672" y="3374135"/>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483863"/>
            <a:ext cx="256032" cy="164592"/>
          </a:xfrm>
          <a:prstGeom prst="rect">
            <a:avLst/>
          </a:prstGeom>
          <a:noFill/>
        </p:spPr>
        <p:txBody>
          <a:bodyPr wrap="square" lIns="0" rIns="0" tIns="0" bIns="0">
            <a:normAutofit/>
          </a:bodyPr>
          <a:lstStyle/>
          <a:p>
            <a:r>
              <a:rPr sz="1100" b="1">
                <a:solidFill>
                  <a:srgbClr val="D8A94A"/>
                </a:solidFill>
                <a:latin typeface="Malgun Gothic"/>
              </a:rPr>
              <a:t>3</a:t>
            </a:r>
          </a:p>
        </p:txBody>
      </p:sp>
      <p:sp>
        <p:nvSpPr>
          <p:cNvPr id="18" name="TextBox 17"/>
          <p:cNvSpPr txBox="1"/>
          <p:nvPr/>
        </p:nvSpPr>
        <p:spPr>
          <a:xfrm>
            <a:off x="1280160" y="3483863"/>
            <a:ext cx="5422392" cy="164592"/>
          </a:xfrm>
          <a:prstGeom prst="rect">
            <a:avLst/>
          </a:prstGeom>
          <a:noFill/>
        </p:spPr>
        <p:txBody>
          <a:bodyPr wrap="square" lIns="0" rIns="0" tIns="0" bIns="0">
            <a:normAutofit/>
          </a:bodyPr>
          <a:lstStyle/>
          <a:p>
            <a:r>
              <a:rPr sz="1150" b="1">
                <a:solidFill>
                  <a:srgbClr val="092642"/>
                </a:solidFill>
                <a:latin typeface="Malgun Gothic"/>
              </a:rPr>
              <a:t>중급: 표도우미 제작 과정을 단계별로 이해</a:t>
            </a:r>
          </a:p>
        </p:txBody>
      </p:sp>
      <p:sp>
        <p:nvSpPr>
          <p:cNvPr id="19" name="Rounded Rectangle 18"/>
          <p:cNvSpPr/>
          <p:nvPr/>
        </p:nvSpPr>
        <p:spPr>
          <a:xfrm>
            <a:off x="804672" y="4800600"/>
            <a:ext cx="5989320" cy="685800"/>
          </a:xfrm>
          <a:prstGeom prst="roundRect">
            <a:avLst/>
          </a:prstGeom>
          <a:solidFill>
            <a:srgbClr val="FFF7E6"/>
          </a:solidFill>
          <a:ln w="10160">
            <a:solidFill>
              <a:srgbClr val="F0D7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928616"/>
            <a:ext cx="5660136" cy="466344"/>
          </a:xfrm>
          <a:prstGeom prst="rect">
            <a:avLst/>
          </a:prstGeom>
          <a:noFill/>
        </p:spPr>
        <p:txBody>
          <a:bodyPr wrap="square" lIns="0" rIns="0" tIns="0" bIns="0">
            <a:normAutofit/>
          </a:bodyPr>
          <a:lstStyle/>
          <a:p>
            <a:r>
              <a:rPr sz="1220" b="0">
                <a:solidFill>
                  <a:srgbClr val="5A4217"/>
                </a:solidFill>
                <a:latin typeface="Malgun Gothic"/>
              </a:rPr>
              <a:t>초보자가 가장 어려워하는 개발환경 세팅은 가상환경 없이 천천히 진행합니다.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2642"/>
        </a:solidFill>
        <a:effectLst/>
      </p:bgPr>
    </p:bg>
    <p:spTree>
      <p:nvGrpSpPr>
        <p:cNvPr id="1" name=""/>
        <p:cNvGrpSpPr/>
        <p:nvPr/>
      </p:nvGrpSpPr>
      <p:grpSpPr/>
      <p:pic>
        <p:nvPicPr>
          <p:cNvPr id="2" name="Picture 1" descr="tmp_crop_8405262632308788705.jpg"/>
          <p:cNvPicPr>
            <a:picLocks noChangeAspect="1"/>
          </p:cNvPicPr>
          <p:nvPr/>
        </p:nvPicPr>
        <p:blipFill>
          <a:blip r:embed="rId2"/>
          <a:stretch>
            <a:fillRect/>
          </a:stretch>
        </p:blipFill>
        <p:spPr>
          <a:xfrm>
            <a:off x="6080760" y="0"/>
            <a:ext cx="6108192" cy="6858000"/>
          </a:xfrm>
          <a:prstGeom prst="rect">
            <a:avLst/>
          </a:prstGeom>
        </p:spPr>
      </p:pic>
      <p:sp>
        <p:nvSpPr>
          <p:cNvPr id="3" name="Rectangle 2"/>
          <p:cNvSpPr/>
          <p:nvPr/>
        </p:nvSpPr>
        <p:spPr>
          <a:xfrm>
            <a:off x="0" y="0"/>
            <a:ext cx="6309360" cy="6858000"/>
          </a:xfrm>
          <a:prstGeom prst="rect">
            <a:avLst/>
          </a:prstGeom>
          <a:solidFill>
            <a:srgbClr val="09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58368"/>
            <a:ext cx="914400" cy="201168"/>
          </a:xfrm>
          <a:prstGeom prst="rect">
            <a:avLst/>
          </a:prstGeom>
          <a:noFill/>
        </p:spPr>
        <p:txBody>
          <a:bodyPr wrap="square" lIns="0" rIns="0" tIns="0" bIns="0">
            <a:normAutofit/>
          </a:bodyPr>
          <a:lstStyle/>
          <a:p>
            <a:r>
              <a:rPr sz="950" b="1">
                <a:solidFill>
                  <a:srgbClr val="F3C56B"/>
                </a:solidFill>
                <a:latin typeface="Malgun Gothic"/>
              </a:rPr>
              <a:t>PART</a:t>
            </a:r>
          </a:p>
        </p:txBody>
      </p:sp>
      <p:sp>
        <p:nvSpPr>
          <p:cNvPr id="5" name="TextBox 4"/>
          <p:cNvSpPr txBox="1"/>
          <p:nvPr/>
        </p:nvSpPr>
        <p:spPr>
          <a:xfrm>
            <a:off x="713232" y="987552"/>
            <a:ext cx="1371600" cy="457200"/>
          </a:xfrm>
          <a:prstGeom prst="rect">
            <a:avLst/>
          </a:prstGeom>
          <a:noFill/>
        </p:spPr>
        <p:txBody>
          <a:bodyPr wrap="square" lIns="0" rIns="0" tIns="0" bIns="0">
            <a:normAutofit/>
          </a:bodyPr>
          <a:lstStyle/>
          <a:p>
            <a:r>
              <a:rPr sz="2800" b="1">
                <a:solidFill>
                  <a:srgbClr val="F3C56B"/>
                </a:solidFill>
                <a:latin typeface="Malgun Gothic"/>
              </a:rPr>
              <a:t>01</a:t>
            </a:r>
          </a:p>
        </p:txBody>
      </p:sp>
      <p:sp>
        <p:nvSpPr>
          <p:cNvPr id="6" name="TextBox 5"/>
          <p:cNvSpPr txBox="1"/>
          <p:nvPr/>
        </p:nvSpPr>
        <p:spPr>
          <a:xfrm>
            <a:off x="713232" y="1828800"/>
            <a:ext cx="5120640" cy="1051560"/>
          </a:xfrm>
          <a:prstGeom prst="rect">
            <a:avLst/>
          </a:prstGeom>
          <a:noFill/>
        </p:spPr>
        <p:txBody>
          <a:bodyPr wrap="square" lIns="0" rIns="0" tIns="0" bIns="0">
            <a:normAutofit/>
          </a:bodyPr>
          <a:lstStyle/>
          <a:p>
            <a:r>
              <a:rPr sz="3300" b="1">
                <a:solidFill>
                  <a:srgbClr val="FFFFFF"/>
                </a:solidFill>
                <a:latin typeface="Malgun Gothic"/>
              </a:rPr>
              <a:t>도입부
왜 필요한가?</a:t>
            </a:r>
          </a:p>
        </p:txBody>
      </p:sp>
      <p:sp>
        <p:nvSpPr>
          <p:cNvPr id="7" name="TextBox 6"/>
          <p:cNvSpPr txBox="1"/>
          <p:nvPr/>
        </p:nvSpPr>
        <p:spPr>
          <a:xfrm>
            <a:off x="749808" y="3456432"/>
            <a:ext cx="5120640" cy="777240"/>
          </a:xfrm>
          <a:prstGeom prst="rect">
            <a:avLst/>
          </a:prstGeom>
          <a:noFill/>
        </p:spPr>
        <p:txBody>
          <a:bodyPr wrap="square" lIns="0" rIns="0" tIns="0" bIns="0">
            <a:normAutofit/>
          </a:bodyPr>
          <a:lstStyle/>
          <a:p>
            <a:r>
              <a:rPr sz="1700" b="0">
                <a:solidFill>
                  <a:srgbClr val="EAF2FA"/>
                </a:solidFill>
                <a:latin typeface="Malgun Gothic"/>
              </a:rPr>
              <a:t>단순 반복 업무의 고통을 먼저 보여주고, 자동화의 필요성을 체감합니다.</a:t>
            </a:r>
          </a:p>
        </p:txBody>
      </p:sp>
      <p:sp>
        <p:nvSpPr>
          <p:cNvPr id="8" name="Rectangle 7"/>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도입부</a:t>
            </a:r>
          </a:p>
        </p:txBody>
      </p:sp>
      <p:sp>
        <p:nvSpPr>
          <p:cNvPr id="10" name="TextBox 9"/>
          <p:cNvSpPr txBox="1"/>
          <p:nvPr/>
        </p:nvSpPr>
        <p:spPr>
          <a:xfrm>
            <a:off x="11201400" y="6556248"/>
            <a:ext cx="384048" cy="164592"/>
          </a:xfrm>
          <a:prstGeom prst="rect">
            <a:avLst/>
          </a:prstGeom>
          <a:noFill/>
        </p:spPr>
        <p:txBody>
          <a:bodyPr wrap="square" lIns="0" rIns="0" tIns="0" bIns="0">
            <a:normAutofit/>
          </a:bodyPr>
          <a:lstStyle/>
          <a:p>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SCENE 01</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전국 경찰서 자료가 도착했습니다</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K-감사관의 폴더에 경찰서 엑셀 파일이 빼곡히 들어 있습니다.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2794193563038997156.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도입부</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4</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전국 경찰서 약 250여 개 엑셀 파일 제출</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서울중부경찰서.xlsx, 부산중부경찰서.xlsx …</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형식은 같지만 파일 수가 많음</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“형식은 같으니까 금방 끝나겠지?”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SCENE 02</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처음에는 단순해 보였습니다</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하나씩 열고 복사하고 붙이면 될 것처럼 보입니다.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8178971494002343095.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도입부</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5</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서울중부경찰서 자료 복사</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서울종로경찰서 자료 붙여넣기</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다음은 서울남대문경찰서</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파일이 10개가 아니라 250개면 이야기가 달라짐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SCENE 03</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3시간 후, 불안이 시작됩니다</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수작업 취합은 시간보다 정확성이 더 큰 문제입니다.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도입부</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6</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“부산중부경찰서 파일을 붙였던가?”</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“제목 행이 중간에 한 번 더 들어간 것 같은데…”</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파일 누락·제목 행 중복·복사 범위 오류 발생 가능</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한 번 틀리면 검토 시간까지 다시 증가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SCENE 04</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추가 요구사항이 등장합니다</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업무는 한 번에 끝나지 않습니다.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732001586235369435.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도입부</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7</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수석님: “조치계획 항목도 같이 취합해 주세요.”</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과장님: “원본 파일명도 남겨야 확인하기 좋겠네요.”</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국장님: “지방청별로 구분할 수 있게 지역 열도 추가합시다.”</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요구가 바뀌면 250개를 다시 열어야 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REFRAME</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질문을 바꾸면 자동화가 시작됩니다</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바이브 코딩은 이 질문에서 시작됩니다.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도입부</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8</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이 일을 매번 손으로 해야 할까?</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규칙이 있다면 컴퓨터가 대신할 수 있지 않을까?</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내가 원하는 절차를 AI에게 설명하면 코드로 만들 수 있지 않을까?</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반복 작업은 컴퓨터에게, 판단은 사람에게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2642"/>
        </a:solidFill>
        <a:effectLst/>
      </p:bgPr>
    </p:bg>
    <p:spTree>
      <p:nvGrpSpPr>
        <p:cNvPr id="1" name=""/>
        <p:cNvGrpSpPr/>
        <p:nvPr/>
      </p:nvGrpSpPr>
      <p:grpSpPr/>
      <p:pic>
        <p:nvPicPr>
          <p:cNvPr id="2" name="Picture 1" descr="tmp_crop_1604513795904527836.jpg"/>
          <p:cNvPicPr>
            <a:picLocks noChangeAspect="1"/>
          </p:cNvPicPr>
          <p:nvPr/>
        </p:nvPicPr>
        <p:blipFill>
          <a:blip r:embed="rId2"/>
          <a:stretch>
            <a:fillRect/>
          </a:stretch>
        </p:blipFill>
        <p:spPr>
          <a:xfrm>
            <a:off x="6080760" y="0"/>
            <a:ext cx="6108192" cy="6858000"/>
          </a:xfrm>
          <a:prstGeom prst="rect">
            <a:avLst/>
          </a:prstGeom>
        </p:spPr>
      </p:pic>
      <p:sp>
        <p:nvSpPr>
          <p:cNvPr id="3" name="Rectangle 2"/>
          <p:cNvSpPr/>
          <p:nvPr/>
        </p:nvSpPr>
        <p:spPr>
          <a:xfrm>
            <a:off x="0" y="0"/>
            <a:ext cx="6309360" cy="6858000"/>
          </a:xfrm>
          <a:prstGeom prst="rect">
            <a:avLst/>
          </a:prstGeom>
          <a:solidFill>
            <a:srgbClr val="09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58368"/>
            <a:ext cx="914400" cy="201168"/>
          </a:xfrm>
          <a:prstGeom prst="rect">
            <a:avLst/>
          </a:prstGeom>
          <a:noFill/>
        </p:spPr>
        <p:txBody>
          <a:bodyPr wrap="square" lIns="0" rIns="0" tIns="0" bIns="0">
            <a:normAutofit/>
          </a:bodyPr>
          <a:lstStyle/>
          <a:p>
            <a:r>
              <a:rPr sz="950" b="1">
                <a:solidFill>
                  <a:srgbClr val="F3C56B"/>
                </a:solidFill>
                <a:latin typeface="Malgun Gothic"/>
              </a:rPr>
              <a:t>PART</a:t>
            </a:r>
          </a:p>
        </p:txBody>
      </p:sp>
      <p:sp>
        <p:nvSpPr>
          <p:cNvPr id="5" name="TextBox 4"/>
          <p:cNvSpPr txBox="1"/>
          <p:nvPr/>
        </p:nvSpPr>
        <p:spPr>
          <a:xfrm>
            <a:off x="713232" y="987552"/>
            <a:ext cx="1371600" cy="457200"/>
          </a:xfrm>
          <a:prstGeom prst="rect">
            <a:avLst/>
          </a:prstGeom>
          <a:noFill/>
        </p:spPr>
        <p:txBody>
          <a:bodyPr wrap="square" lIns="0" rIns="0" tIns="0" bIns="0">
            <a:normAutofit/>
          </a:bodyPr>
          <a:lstStyle/>
          <a:p>
            <a:r>
              <a:rPr sz="2800" b="1">
                <a:solidFill>
                  <a:srgbClr val="F3C56B"/>
                </a:solidFill>
                <a:latin typeface="Malgun Gothic"/>
              </a:rPr>
              <a:t>02</a:t>
            </a:r>
          </a:p>
        </p:txBody>
      </p:sp>
      <p:sp>
        <p:nvSpPr>
          <p:cNvPr id="6" name="TextBox 5"/>
          <p:cNvSpPr txBox="1"/>
          <p:nvPr/>
        </p:nvSpPr>
        <p:spPr>
          <a:xfrm>
            <a:off x="713232" y="1828800"/>
            <a:ext cx="5120640" cy="1051560"/>
          </a:xfrm>
          <a:prstGeom prst="rect">
            <a:avLst/>
          </a:prstGeom>
          <a:noFill/>
        </p:spPr>
        <p:txBody>
          <a:bodyPr wrap="square" lIns="0" rIns="0" tIns="0" bIns="0">
            <a:normAutofit/>
          </a:bodyPr>
          <a:lstStyle/>
          <a:p>
            <a:r>
              <a:rPr sz="3300" b="1">
                <a:solidFill>
                  <a:srgbClr val="FFFFFF"/>
                </a:solidFill>
                <a:latin typeface="Malgun Gothic"/>
              </a:rPr>
              <a:t>초급 과정
개발환경 세팅</a:t>
            </a:r>
          </a:p>
        </p:txBody>
      </p:sp>
      <p:sp>
        <p:nvSpPr>
          <p:cNvPr id="7" name="TextBox 6"/>
          <p:cNvSpPr txBox="1"/>
          <p:nvPr/>
        </p:nvSpPr>
        <p:spPr>
          <a:xfrm>
            <a:off x="749808" y="3456432"/>
            <a:ext cx="5120640" cy="777240"/>
          </a:xfrm>
          <a:prstGeom prst="rect">
            <a:avLst/>
          </a:prstGeom>
          <a:noFill/>
        </p:spPr>
        <p:txBody>
          <a:bodyPr wrap="square" lIns="0" rIns="0" tIns="0" bIns="0">
            <a:normAutofit/>
          </a:bodyPr>
          <a:lstStyle/>
          <a:p>
            <a:r>
              <a:rPr sz="1700" b="0">
                <a:solidFill>
                  <a:srgbClr val="EAF2FA"/>
                </a:solidFill>
                <a:latin typeface="Malgun Gothic"/>
              </a:rPr>
              <a:t>초보자가 가장 많이 막히는 부분을 먼저 해결합니다.</a:t>
            </a:r>
          </a:p>
        </p:txBody>
      </p:sp>
      <p:sp>
        <p:nvSpPr>
          <p:cNvPr id="8" name="Rectangle 7"/>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과정</a:t>
            </a:r>
          </a:p>
        </p:txBody>
      </p:sp>
      <p:sp>
        <p:nvSpPr>
          <p:cNvPr id="10" name="TextBox 9"/>
          <p:cNvSpPr txBox="1"/>
          <p:nvPr/>
        </p:nvSpPr>
        <p:spPr>
          <a:xfrm>
            <a:off x="11201400" y="6556248"/>
            <a:ext cx="384048" cy="164592"/>
          </a:xfrm>
          <a:prstGeom prst="rect">
            <a:avLst/>
          </a:prstGeom>
          <a:noFill/>
        </p:spPr>
        <p:txBody>
          <a:bodyPr wrap="square" lIns="0" rIns="0" tIns="0" bIns="0">
            <a:normAutofit/>
          </a:bodyPr>
          <a:lstStyle/>
          <a:p>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SETUP PRINCIPLE</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초급에서는 가상환경을 생략합니다</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t>오늘의 목표는 내부망 PC에서 설치부터 코드 실행까지 직접 성공하는 경험입니다.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10</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Python 설치 확인, VS Code 실행, pip 설치, 코드 실행으로 단순화</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가상환경은 중급·배포·장기 유지보수 단계에서 권장</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초보자에게는 가상환경 자체가 첫 장벽이 될 수 있음</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먼저 성공 경험을 만들고 나중에 환경 관리를 확장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SETUP ROADMAP</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개발환경 세팅 순서</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11</a:t>
            </a:r>
          </a:p>
        </p:txBody>
      </p:sp>
      <p:sp>
        <p:nvSpPr>
          <p:cNvPr id="9" name="Rounded Rectangle 8"/>
          <p:cNvSpPr/>
          <p:nvPr/>
        </p:nvSpPr>
        <p:spPr>
          <a:xfrm>
            <a:off x="804672" y="128016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389888"/>
            <a:ext cx="256032" cy="164592"/>
          </a:xfrm>
          <a:prstGeom prst="rect">
            <a:avLst/>
          </a:prstGeom>
          <a:noFill/>
        </p:spPr>
        <p:txBody>
          <a:bodyPr wrap="square" lIns="0" rIns="0" tIns="0" bIns="0">
            <a:normAutofit/>
          </a:bodyPr>
          <a:lstStyle/>
          <a:p>
            <a:r>
              <a:rPr sz="1100" b="1">
                <a:solidFill>
                  <a:srgbClr val="D8A94A"/>
                </a:solidFill>
                <a:latin typeface="Malgun Gothic"/>
              </a:rPr>
              <a:t>1</a:t>
            </a:r>
          </a:p>
        </p:txBody>
      </p:sp>
      <p:sp>
        <p:nvSpPr>
          <p:cNvPr id="11" name="TextBox 10"/>
          <p:cNvSpPr txBox="1"/>
          <p:nvPr/>
        </p:nvSpPr>
        <p:spPr>
          <a:xfrm>
            <a:off x="1280160" y="1389888"/>
            <a:ext cx="5422392" cy="164592"/>
          </a:xfrm>
          <a:prstGeom prst="rect">
            <a:avLst/>
          </a:prstGeom>
          <a:noFill/>
        </p:spPr>
        <p:txBody>
          <a:bodyPr wrap="square" lIns="0" rIns="0" tIns="0" bIns="0">
            <a:normAutofit/>
          </a:bodyPr>
          <a:lstStyle/>
          <a:p>
            <a:r>
              <a:t>실습 폴더 만들기</a:t>
            </a:r>
          </a:p>
        </p:txBody>
      </p:sp>
      <p:sp>
        <p:nvSpPr>
          <p:cNvPr id="12" name="Rounded Rectangle 11"/>
          <p:cNvSpPr/>
          <p:nvPr/>
        </p:nvSpPr>
        <p:spPr>
          <a:xfrm>
            <a:off x="804672" y="1810512"/>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1920240"/>
            <a:ext cx="256032" cy="164592"/>
          </a:xfrm>
          <a:prstGeom prst="rect">
            <a:avLst/>
          </a:prstGeom>
          <a:noFill/>
        </p:spPr>
        <p:txBody>
          <a:bodyPr wrap="square" lIns="0" rIns="0" tIns="0" bIns="0">
            <a:normAutofit/>
          </a:bodyPr>
          <a:lstStyle/>
          <a:p>
            <a:r>
              <a:rPr sz="1100" b="1">
                <a:solidFill>
                  <a:srgbClr val="D8A94A"/>
                </a:solidFill>
                <a:latin typeface="Malgun Gothic"/>
              </a:rPr>
              <a:t>2</a:t>
            </a:r>
          </a:p>
        </p:txBody>
      </p:sp>
      <p:sp>
        <p:nvSpPr>
          <p:cNvPr id="14" name="TextBox 13"/>
          <p:cNvSpPr txBox="1"/>
          <p:nvPr/>
        </p:nvSpPr>
        <p:spPr>
          <a:xfrm>
            <a:off x="1280160" y="1920240"/>
            <a:ext cx="5422392" cy="164592"/>
          </a:xfrm>
          <a:prstGeom prst="rect">
            <a:avLst/>
          </a:prstGeom>
          <a:noFill/>
        </p:spPr>
        <p:txBody>
          <a:bodyPr wrap="square" lIns="0" rIns="0" tIns="0" bIns="0">
            <a:normAutofit/>
          </a:bodyPr>
          <a:lstStyle/>
          <a:p>
            <a:r>
              <a:t>설치 파일 준비</a:t>
            </a:r>
          </a:p>
        </p:txBody>
      </p:sp>
      <p:sp>
        <p:nvSpPr>
          <p:cNvPr id="15" name="Rounded Rectangle 14"/>
          <p:cNvSpPr/>
          <p:nvPr/>
        </p:nvSpPr>
        <p:spPr>
          <a:xfrm>
            <a:off x="804672" y="2340863"/>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450591"/>
            <a:ext cx="256032" cy="164592"/>
          </a:xfrm>
          <a:prstGeom prst="rect">
            <a:avLst/>
          </a:prstGeom>
          <a:noFill/>
        </p:spPr>
        <p:txBody>
          <a:bodyPr wrap="square" lIns="0" rIns="0" tIns="0" bIns="0">
            <a:normAutofit/>
          </a:bodyPr>
          <a:lstStyle/>
          <a:p>
            <a:r>
              <a:rPr sz="1100" b="1">
                <a:solidFill>
                  <a:srgbClr val="D8A94A"/>
                </a:solidFill>
                <a:latin typeface="Malgun Gothic"/>
              </a:rPr>
              <a:t>3</a:t>
            </a:r>
          </a:p>
        </p:txBody>
      </p:sp>
      <p:sp>
        <p:nvSpPr>
          <p:cNvPr id="17" name="TextBox 16"/>
          <p:cNvSpPr txBox="1"/>
          <p:nvPr/>
        </p:nvSpPr>
        <p:spPr>
          <a:xfrm>
            <a:off x="1280160" y="2450591"/>
            <a:ext cx="5422392" cy="164592"/>
          </a:xfrm>
          <a:prstGeom prst="rect">
            <a:avLst/>
          </a:prstGeom>
          <a:noFill/>
        </p:spPr>
        <p:txBody>
          <a:bodyPr wrap="square" lIns="0" rIns="0" tIns="0" bIns="0">
            <a:normAutofit/>
          </a:bodyPr>
          <a:lstStyle/>
          <a:p>
            <a:r>
              <a:t>Python 설치</a:t>
            </a:r>
          </a:p>
        </p:txBody>
      </p:sp>
      <p:sp>
        <p:nvSpPr>
          <p:cNvPr id="18" name="Rounded Rectangle 17"/>
          <p:cNvSpPr/>
          <p:nvPr/>
        </p:nvSpPr>
        <p:spPr>
          <a:xfrm>
            <a:off x="804672" y="2871215"/>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2980944"/>
            <a:ext cx="256032" cy="164592"/>
          </a:xfrm>
          <a:prstGeom prst="rect">
            <a:avLst/>
          </a:prstGeom>
          <a:noFill/>
        </p:spPr>
        <p:txBody>
          <a:bodyPr wrap="square" lIns="0" rIns="0" tIns="0" bIns="0">
            <a:normAutofit/>
          </a:bodyPr>
          <a:lstStyle/>
          <a:p>
            <a:r>
              <a:rPr sz="1100" b="1">
                <a:solidFill>
                  <a:srgbClr val="D8A94A"/>
                </a:solidFill>
                <a:latin typeface="Malgun Gothic"/>
              </a:rPr>
              <a:t>4</a:t>
            </a:r>
          </a:p>
        </p:txBody>
      </p:sp>
      <p:sp>
        <p:nvSpPr>
          <p:cNvPr id="20" name="TextBox 19"/>
          <p:cNvSpPr txBox="1"/>
          <p:nvPr/>
        </p:nvSpPr>
        <p:spPr>
          <a:xfrm>
            <a:off x="1280160" y="2980944"/>
            <a:ext cx="5422392" cy="164592"/>
          </a:xfrm>
          <a:prstGeom prst="rect">
            <a:avLst/>
          </a:prstGeom>
          <a:noFill/>
        </p:spPr>
        <p:txBody>
          <a:bodyPr wrap="square" lIns="0" rIns="0" tIns="0" bIns="0">
            <a:normAutofit/>
          </a:bodyPr>
          <a:lstStyle/>
          <a:p>
            <a:r>
              <a:t>VS Code 설치</a:t>
            </a:r>
          </a:p>
        </p:txBody>
      </p:sp>
      <p:sp>
        <p:nvSpPr>
          <p:cNvPr id="21" name="Rounded Rectangle 20"/>
          <p:cNvSpPr/>
          <p:nvPr/>
        </p:nvSpPr>
        <p:spPr>
          <a:xfrm>
            <a:off x="804672" y="3401568"/>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511296"/>
            <a:ext cx="256032" cy="164592"/>
          </a:xfrm>
          <a:prstGeom prst="rect">
            <a:avLst/>
          </a:prstGeom>
          <a:noFill/>
        </p:spPr>
        <p:txBody>
          <a:bodyPr wrap="square" lIns="0" rIns="0" tIns="0" bIns="0">
            <a:normAutofit/>
          </a:bodyPr>
          <a:lstStyle/>
          <a:p>
            <a:r>
              <a:rPr sz="1100" b="1">
                <a:solidFill>
                  <a:srgbClr val="D8A94A"/>
                </a:solidFill>
                <a:latin typeface="Malgun Gothic"/>
              </a:rPr>
              <a:t>5</a:t>
            </a:r>
          </a:p>
        </p:txBody>
      </p:sp>
      <p:sp>
        <p:nvSpPr>
          <p:cNvPr id="23" name="TextBox 22"/>
          <p:cNvSpPr txBox="1"/>
          <p:nvPr/>
        </p:nvSpPr>
        <p:spPr>
          <a:xfrm>
            <a:off x="1280160" y="3511296"/>
            <a:ext cx="5422392" cy="164592"/>
          </a:xfrm>
          <a:prstGeom prst="rect">
            <a:avLst/>
          </a:prstGeom>
          <a:noFill/>
        </p:spPr>
        <p:txBody>
          <a:bodyPr wrap="square" lIns="0" rIns="0" tIns="0" bIns="0">
            <a:normAutofit/>
          </a:bodyPr>
          <a:lstStyle/>
          <a:p>
            <a:r>
              <a:t>Python 확장 설치</a:t>
            </a:r>
          </a:p>
        </p:txBody>
      </p:sp>
      <p:sp>
        <p:nvSpPr>
          <p:cNvPr id="24" name="Rounded Rectangle 23"/>
          <p:cNvSpPr/>
          <p:nvPr/>
        </p:nvSpPr>
        <p:spPr>
          <a:xfrm>
            <a:off x="804672" y="393192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4041648"/>
            <a:ext cx="256032" cy="164592"/>
          </a:xfrm>
          <a:prstGeom prst="rect">
            <a:avLst/>
          </a:prstGeom>
          <a:noFill/>
        </p:spPr>
        <p:txBody>
          <a:bodyPr wrap="square" lIns="0" rIns="0" tIns="0" bIns="0">
            <a:normAutofit/>
          </a:bodyPr>
          <a:lstStyle/>
          <a:p>
            <a:r>
              <a:rPr sz="1100" b="1">
                <a:solidFill>
                  <a:srgbClr val="D8A94A"/>
                </a:solidFill>
                <a:latin typeface="Malgun Gothic"/>
              </a:rPr>
              <a:t>6</a:t>
            </a:r>
          </a:p>
        </p:txBody>
      </p:sp>
      <p:sp>
        <p:nvSpPr>
          <p:cNvPr id="26" name="TextBox 25"/>
          <p:cNvSpPr txBox="1"/>
          <p:nvPr/>
        </p:nvSpPr>
        <p:spPr>
          <a:xfrm>
            <a:off x="1280160" y="4041648"/>
            <a:ext cx="5422392" cy="164592"/>
          </a:xfrm>
          <a:prstGeom prst="rect">
            <a:avLst/>
          </a:prstGeom>
          <a:noFill/>
        </p:spPr>
        <p:txBody>
          <a:bodyPr wrap="square" lIns="0" rIns="0" tIns="0" bIns="0">
            <a:normAutofit/>
          </a:bodyPr>
          <a:lstStyle/>
          <a:p>
            <a:r>
              <a:t>설치 확인·폴더 열기</a:t>
            </a:r>
          </a:p>
        </p:txBody>
      </p:sp>
      <p:sp>
        <p:nvSpPr>
          <p:cNvPr id="27" name="Rounded Rectangle 26"/>
          <p:cNvSpPr/>
          <p:nvPr/>
        </p:nvSpPr>
        <p:spPr>
          <a:xfrm>
            <a:off x="804672" y="4462271"/>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571999"/>
            <a:ext cx="256032" cy="164592"/>
          </a:xfrm>
          <a:prstGeom prst="rect">
            <a:avLst/>
          </a:prstGeom>
          <a:noFill/>
        </p:spPr>
        <p:txBody>
          <a:bodyPr wrap="square" lIns="0" rIns="0" tIns="0" bIns="0">
            <a:normAutofit/>
          </a:bodyPr>
          <a:lstStyle/>
          <a:p>
            <a:r>
              <a:rPr sz="1100" b="1">
                <a:solidFill>
                  <a:srgbClr val="D8A94A"/>
                </a:solidFill>
                <a:latin typeface="Malgun Gothic"/>
              </a:rPr>
              <a:t>7</a:t>
            </a:r>
          </a:p>
        </p:txBody>
      </p:sp>
      <p:sp>
        <p:nvSpPr>
          <p:cNvPr id="29" name="TextBox 28"/>
          <p:cNvSpPr txBox="1"/>
          <p:nvPr/>
        </p:nvSpPr>
        <p:spPr>
          <a:xfrm>
            <a:off x="1280160" y="4571999"/>
            <a:ext cx="5422392" cy="164592"/>
          </a:xfrm>
          <a:prstGeom prst="rect">
            <a:avLst/>
          </a:prstGeom>
          <a:noFill/>
        </p:spPr>
        <p:txBody>
          <a:bodyPr wrap="square" lIns="0" rIns="0" tIns="0" bIns="0">
            <a:normAutofit/>
          </a:bodyPr>
          <a:lstStyle/>
          <a:p>
            <a:r>
              <a:t>오프라인 라이브러리 설치</a:t>
            </a:r>
          </a:p>
        </p:txBody>
      </p:sp>
      <p:sp>
        <p:nvSpPr>
          <p:cNvPr id="30" name="Rounded Rectangle 29"/>
          <p:cNvSpPr/>
          <p:nvPr/>
        </p:nvSpPr>
        <p:spPr>
          <a:xfrm>
            <a:off x="804672" y="4992623"/>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5102351"/>
            <a:ext cx="256032" cy="164592"/>
          </a:xfrm>
          <a:prstGeom prst="rect">
            <a:avLst/>
          </a:prstGeom>
          <a:noFill/>
        </p:spPr>
        <p:txBody>
          <a:bodyPr wrap="square" lIns="0" rIns="0" tIns="0" bIns="0">
            <a:normAutofit/>
          </a:bodyPr>
          <a:lstStyle/>
          <a:p>
            <a:r>
              <a:rPr sz="1100" b="1">
                <a:solidFill>
                  <a:srgbClr val="D8A94A"/>
                </a:solidFill>
                <a:latin typeface="Malgun Gothic"/>
              </a:rPr>
              <a:t>8</a:t>
            </a:r>
          </a:p>
        </p:txBody>
      </p:sp>
      <p:sp>
        <p:nvSpPr>
          <p:cNvPr id="32" name="TextBox 31"/>
          <p:cNvSpPr txBox="1"/>
          <p:nvPr/>
        </p:nvSpPr>
        <p:spPr>
          <a:xfrm>
            <a:off x="1280160" y="5102351"/>
            <a:ext cx="5422392" cy="164592"/>
          </a:xfrm>
          <a:prstGeom prst="rect">
            <a:avLst/>
          </a:prstGeom>
          <a:noFill/>
        </p:spPr>
        <p:txBody>
          <a:bodyPr wrap="square" lIns="0" rIns="0" tIns="0" bIns="0">
            <a:normAutofit/>
          </a:bodyPr>
          <a:lstStyle/>
          <a:p>
            <a:r>
              <a:t>첫 코드 실행·오류 해결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STEP 1</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실습 폴더 만들기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12</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rPr sz="1450" b="0">
                <a:solidFill>
                  <a:srgbClr val="172033"/>
                </a:solidFill>
                <a:latin typeface="Malgun Gothic"/>
              </a:rPr>
              <a:t>D드라이브에 D:\vibe_excel 폴더 생성</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rPr sz="1450" b="0">
                <a:solidFill>
                  <a:srgbClr val="172033"/>
                </a:solidFill>
                <a:latin typeface="Malgun Gothic"/>
              </a:rPr>
              <a:t>그 안에 input, output 폴더 생성</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rPr sz="1450" b="0">
                <a:solidFill>
                  <a:srgbClr val="172033"/>
                </a:solidFill>
                <a:latin typeface="Malgun Gothic"/>
              </a:rPr>
              <a:t>input에는 경찰서 제출 파일을 넣음</a:t>
            </a:r>
          </a:p>
        </p:txBody>
      </p:sp>
      <p:sp>
        <p:nvSpPr>
          <p:cNvPr id="15" name="TextBox 14"/>
          <p:cNvSpPr txBox="1"/>
          <p:nvPr/>
        </p:nvSpPr>
        <p:spPr>
          <a:xfrm>
            <a:off x="804672" y="293522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6" name="TextBox 15"/>
          <p:cNvSpPr txBox="1"/>
          <p:nvPr/>
        </p:nvSpPr>
        <p:spPr>
          <a:xfrm>
            <a:off x="1097280" y="2935224"/>
            <a:ext cx="5650992" cy="310896"/>
          </a:xfrm>
          <a:prstGeom prst="rect">
            <a:avLst/>
          </a:prstGeom>
          <a:noFill/>
        </p:spPr>
        <p:txBody>
          <a:bodyPr wrap="square" lIns="0" rIns="0" tIns="0" bIns="0">
            <a:normAutofit/>
          </a:bodyPr>
          <a:lstStyle/>
          <a:p>
            <a:r>
              <a:rPr sz="1450" b="0">
                <a:solidFill>
                  <a:srgbClr val="172033"/>
                </a:solidFill>
                <a:latin typeface="Malgun Gothic"/>
              </a:rPr>
              <a:t>output은 결과 파일을 분리 보관할 때 사용</a:t>
            </a:r>
          </a:p>
        </p:txBody>
      </p:sp>
      <p:sp>
        <p:nvSpPr>
          <p:cNvPr id="17" name="Rounded Rectangle 16"/>
          <p:cNvSpPr/>
          <p:nvPr/>
        </p:nvSpPr>
        <p:spPr>
          <a:xfrm>
            <a:off x="868680" y="4343400"/>
            <a:ext cx="5303520" cy="10058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4453128"/>
            <a:ext cx="5010912" cy="795528"/>
          </a:xfrm>
          <a:prstGeom prst="rect">
            <a:avLst/>
          </a:prstGeom>
          <a:noFill/>
        </p:spPr>
        <p:txBody>
          <a:bodyPr wrap="square" lIns="0" rIns="0" tIns="0" bIns="0">
            <a:normAutofit/>
          </a:bodyPr>
          <a:lstStyle/>
          <a:p>
            <a:r>
              <a:rPr sz="1600" b="0">
                <a:solidFill>
                  <a:srgbClr val="EEF4FA"/>
                </a:solidFill>
                <a:latin typeface="Consolas"/>
              </a:rPr>
              <a:t>D:\vibe_excel
 ├─ input
 └─ output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t>STEP 2</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t>내부망 설치 파일 준비</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13</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t>강사가 제공한 설치 폴더를 PC에 복사</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t>Python 설치 파일과 VS Code 설치 파일 확인</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t>Python 확장(.vsix)과 패키지 폴더가 있으면 함께 확인</a:t>
            </a:r>
          </a:p>
        </p:txBody>
      </p:sp>
      <p:sp>
        <p:nvSpPr>
          <p:cNvPr id="15" name="TextBox 14"/>
          <p:cNvSpPr txBox="1"/>
          <p:nvPr/>
        </p:nvSpPr>
        <p:spPr>
          <a:xfrm>
            <a:off x="804672" y="293522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6" name="TextBox 15"/>
          <p:cNvSpPr txBox="1"/>
          <p:nvPr/>
        </p:nvSpPr>
        <p:spPr>
          <a:xfrm>
            <a:off x="1097280" y="2935224"/>
            <a:ext cx="5650992" cy="310896"/>
          </a:xfrm>
          <a:prstGeom prst="rect">
            <a:avLst/>
          </a:prstGeom>
          <a:noFill/>
        </p:spPr>
        <p:txBody>
          <a:bodyPr wrap="square" lIns="0" rIns="0" tIns="0" bIns="0">
            <a:normAutofit/>
          </a:bodyPr>
          <a:lstStyle/>
          <a:p>
            <a:r>
              <a:t>파일명은 교육장에서 안내한 버전을 그대로 사용</a:t>
            </a:r>
          </a:p>
        </p:txBody>
      </p:sp>
      <p:sp>
        <p:nvSpPr>
          <p:cNvPr id="17" name="Rounded Rectangle 16"/>
          <p:cNvSpPr/>
          <p:nvPr/>
        </p:nvSpPr>
        <p:spPr>
          <a:xfrm>
            <a:off x="868680" y="4343400"/>
            <a:ext cx="5303520" cy="10058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4453128"/>
            <a:ext cx="5010912" cy="795528"/>
          </a:xfrm>
          <a:prstGeom prst="rect">
            <a:avLst/>
          </a:prstGeom>
          <a:noFill/>
        </p:spPr>
        <p:txBody>
          <a:bodyPr wrap="square" lIns="0" rIns="0" tIns="0" bIns="0">
            <a:normAutofit/>
          </a:bodyPr>
          <a:lstStyle/>
          <a:p>
            <a:r>
              <a:rPr sz="1400">
                <a:solidFill>
                  <a:srgbClr val="FFFFFF"/>
                </a:solidFill>
                <a:latin typeface="Consolas"/>
              </a:rPr>
              <a:t>D:\vibe_setup</a:t>
            </a:r>
          </a:p>
          <a:p>
            <a:r>
              <a:rPr sz="1400">
                <a:solidFill>
                  <a:srgbClr val="FFFFFF"/>
                </a:solidFill>
                <a:latin typeface="Consolas"/>
              </a:rPr>
              <a:t> ├─ python-installer.exe</a:t>
            </a:r>
          </a:p>
          <a:p>
            <a:r>
              <a:rPr sz="1400">
                <a:solidFill>
                  <a:srgbClr val="FFFFFF"/>
                </a:solidFill>
                <a:latin typeface="Consolas"/>
              </a:rPr>
              <a:t> ├─ VSCodeSetup.exe</a:t>
            </a:r>
          </a:p>
          <a:p>
            <a:r>
              <a:rPr sz="1400">
                <a:solidFill>
                  <a:srgbClr val="FFFFFF"/>
                </a:solidFill>
                <a:latin typeface="Consolas"/>
              </a:rPr>
              <a:t> ├─ python-extension.vsix</a:t>
            </a:r>
          </a:p>
          <a:p>
            <a:r>
              <a:rPr sz="1400">
                <a:solidFill>
                  <a:srgbClr val="FFFFFF"/>
                </a:solidFill>
                <a:latin typeface="Consolas"/>
              </a:rPr>
              <a:t> └─ packages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t>STEP 3</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t>Python 설치하기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14</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t>제공받은 Python 설치 파일을 더블클릭</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rPr sz="1400">
                <a:solidFill>
                  <a:srgbClr val="FFFFFF"/>
                </a:solidFill>
                <a:latin typeface="Consolas"/>
              </a:rPr>
              <a:t>첫 화면에서 Add python.exe to PATH를 반드시 체크</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t>Install Now를 눌러 기본 설정으로 설치</a:t>
            </a:r>
          </a:p>
        </p:txBody>
      </p:sp>
      <p:sp>
        <p:nvSpPr>
          <p:cNvPr id="15" name="TextBox 14"/>
          <p:cNvSpPr txBox="1"/>
          <p:nvPr/>
        </p:nvSpPr>
        <p:spPr>
          <a:xfrm>
            <a:off x="804672" y="293522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6" name="TextBox 15"/>
          <p:cNvSpPr txBox="1"/>
          <p:nvPr/>
        </p:nvSpPr>
        <p:spPr>
          <a:xfrm>
            <a:off x="1097280" y="2935224"/>
            <a:ext cx="5650992" cy="310896"/>
          </a:xfrm>
          <a:prstGeom prst="rect">
            <a:avLst/>
          </a:prstGeom>
          <a:noFill/>
        </p:spPr>
        <p:txBody>
          <a:bodyPr wrap="square" lIns="0" rIns="0" tIns="0" bIns="0">
            <a:normAutofit/>
          </a:bodyPr>
          <a:lstStyle/>
          <a:p>
            <a:r>
              <a:t>설치 완료 화면에서 성공 메시지를 확인</a:t>
            </a:r>
          </a:p>
        </p:txBody>
      </p:sp>
      <p:sp>
        <p:nvSpPr>
          <p:cNvPr id="17" name="Rounded Rectangle 16"/>
          <p:cNvSpPr/>
          <p:nvPr/>
        </p:nvSpPr>
        <p:spPr>
          <a:xfrm>
            <a:off x="868680" y="4343400"/>
            <a:ext cx="5303520" cy="10058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4453128"/>
            <a:ext cx="5010912" cy="795528"/>
          </a:xfrm>
          <a:prstGeom prst="rect">
            <a:avLst/>
          </a:prstGeom>
          <a:noFill/>
        </p:spPr>
        <p:txBody>
          <a:bodyPr wrap="square" lIns="0" rIns="0" tIns="0" bIns="0">
            <a:normAutofit/>
          </a:bodyPr>
          <a:lstStyle/>
          <a:p>
            <a:r>
              <a:rPr sz="1400">
                <a:solidFill>
                  <a:srgbClr val="FFFFFF"/>
                </a:solidFill>
                <a:latin typeface="Consolas"/>
              </a:rPr>
              <a:t>가장 중요</a:t>
            </a:r>
          </a:p>
          <a:p>
            <a:r>
              <a:rPr sz="1400">
                <a:solidFill>
                  <a:srgbClr val="FFFFFF"/>
                </a:solidFill>
                <a:latin typeface="Consolas"/>
              </a:rPr>
              <a:t>☑ Add python.exe to PATH</a:t>
            </a:r>
          </a:p>
          <a:p>
            <a:r>
              <a:rPr sz="1400">
                <a:solidFill>
                  <a:srgbClr val="FFFFFF"/>
                </a:solidFill>
                <a:latin typeface="Consolas"/>
              </a:rPr>
              <a:t>→ Install Now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t>STEP 4</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t>VS Code 설치하기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15</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t>제공받은 VS Code 설치 파일을 더블클릭</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t>사용권 계약 동의 후 기본 설치 경로 유지</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rPr sz="1400">
                <a:solidFill>
                  <a:srgbClr val="FFFFFF"/>
                </a:solidFill>
                <a:latin typeface="Consolas"/>
              </a:rPr>
              <a:t>PATH에 추가, Code로 열기 항목을 체크하면 편리</a:t>
            </a:r>
          </a:p>
        </p:txBody>
      </p:sp>
      <p:sp>
        <p:nvSpPr>
          <p:cNvPr id="15" name="TextBox 14"/>
          <p:cNvSpPr txBox="1"/>
          <p:nvPr/>
        </p:nvSpPr>
        <p:spPr>
          <a:xfrm>
            <a:off x="804672" y="293522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6" name="TextBox 15"/>
          <p:cNvSpPr txBox="1"/>
          <p:nvPr/>
        </p:nvSpPr>
        <p:spPr>
          <a:xfrm>
            <a:off x="1097280" y="2935224"/>
            <a:ext cx="5650992" cy="310896"/>
          </a:xfrm>
          <a:prstGeom prst="rect">
            <a:avLst/>
          </a:prstGeom>
          <a:noFill/>
        </p:spPr>
        <p:txBody>
          <a:bodyPr wrap="square" lIns="0" rIns="0" tIns="0" bIns="0">
            <a:normAutofit/>
          </a:bodyPr>
          <a:lstStyle/>
          <a:p>
            <a:r>
              <a:t>설치 후 Visual Studio Code 실행을 선택</a:t>
            </a:r>
          </a:p>
        </p:txBody>
      </p:sp>
      <p:sp>
        <p:nvSpPr>
          <p:cNvPr id="17" name="Rounded Rectangle 16"/>
          <p:cNvSpPr/>
          <p:nvPr/>
        </p:nvSpPr>
        <p:spPr>
          <a:xfrm>
            <a:off x="868680" y="4343400"/>
            <a:ext cx="5303520" cy="10058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4453128"/>
            <a:ext cx="5010912" cy="795528"/>
          </a:xfrm>
          <a:prstGeom prst="rect">
            <a:avLst/>
          </a:prstGeom>
          <a:noFill/>
        </p:spPr>
        <p:txBody>
          <a:bodyPr wrap="square" lIns="0" rIns="0" tIns="0" bIns="0">
            <a:normAutofit/>
          </a:bodyPr>
          <a:lstStyle/>
          <a:p>
            <a:r>
              <a:rPr sz="1400">
                <a:solidFill>
                  <a:srgbClr val="FFFFFF"/>
                </a:solidFill>
                <a:latin typeface="Consolas"/>
              </a:rPr>
              <a:t>권장 체크</a:t>
            </a:r>
          </a:p>
          <a:p>
            <a:r>
              <a:rPr sz="1400">
                <a:solidFill>
                  <a:srgbClr val="FFFFFF"/>
                </a:solidFill>
                <a:latin typeface="Consolas"/>
              </a:rPr>
              <a:t>☑ PATH에 추가</a:t>
            </a:r>
          </a:p>
          <a:p>
            <a:r>
              <a:rPr sz="1400">
                <a:solidFill>
                  <a:srgbClr val="FFFFFF"/>
                </a:solidFill>
                <a:latin typeface="Consolas"/>
              </a:rPr>
              <a:t>☑ Code로 열기</a:t>
            </a:r>
          </a:p>
          <a:p>
            <a:r>
              <a:rPr sz="1400">
                <a:solidFill>
                  <a:srgbClr val="FFFFFF"/>
                </a:solidFill>
                <a:latin typeface="Consolas"/>
              </a:rPr>
              <a:t>☑ 바탕 화면 바로가기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t>STEP 5</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t>Python 확장 오프라인 설치</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16</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t>VS Code 왼쪽의 확장 아이콘을 클릭</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t>확장 창 오른쪽 위 … 메뉴를 클릭</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rPr sz="1400">
                <a:solidFill>
                  <a:srgbClr val="FFFFFF"/>
                </a:solidFill>
                <a:latin typeface="Consolas"/>
              </a:rPr>
              <a:t>Install from VSIX…를 선택</a:t>
            </a:r>
          </a:p>
        </p:txBody>
      </p:sp>
      <p:sp>
        <p:nvSpPr>
          <p:cNvPr id="15" name="TextBox 14"/>
          <p:cNvSpPr txBox="1"/>
          <p:nvPr/>
        </p:nvSpPr>
        <p:spPr>
          <a:xfrm>
            <a:off x="804672" y="293522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6" name="TextBox 15"/>
          <p:cNvSpPr txBox="1"/>
          <p:nvPr/>
        </p:nvSpPr>
        <p:spPr>
          <a:xfrm>
            <a:off x="1097280" y="2935224"/>
            <a:ext cx="5650992" cy="310896"/>
          </a:xfrm>
          <a:prstGeom prst="rect">
            <a:avLst/>
          </a:prstGeom>
          <a:noFill/>
        </p:spPr>
        <p:txBody>
          <a:bodyPr wrap="square" lIns="0" rIns="0" tIns="0" bIns="0">
            <a:normAutofit/>
          </a:bodyPr>
          <a:lstStyle/>
          <a:p>
            <a:r>
              <a:t>강사가 제공한 Python 확장 .vsix 파일을 선택</a:t>
            </a:r>
          </a:p>
        </p:txBody>
      </p:sp>
      <p:sp>
        <p:nvSpPr>
          <p:cNvPr id="17" name="Rounded Rectangle 16"/>
          <p:cNvSpPr/>
          <p:nvPr/>
        </p:nvSpPr>
        <p:spPr>
          <a:xfrm>
            <a:off x="868680" y="4343400"/>
            <a:ext cx="5303520" cy="10058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4453128"/>
            <a:ext cx="5010912" cy="795528"/>
          </a:xfrm>
          <a:prstGeom prst="rect">
            <a:avLst/>
          </a:prstGeom>
          <a:noFill/>
        </p:spPr>
        <p:txBody>
          <a:bodyPr wrap="square" lIns="0" rIns="0" tIns="0" bIns="0">
            <a:normAutofit/>
          </a:bodyPr>
          <a:lstStyle/>
          <a:p>
            <a:r>
              <a:rPr sz="1400">
                <a:solidFill>
                  <a:srgbClr val="FFFFFF"/>
                </a:solidFill>
                <a:latin typeface="Consolas"/>
              </a:rPr>
              <a:t>Extensions</a:t>
            </a:r>
          </a:p>
          <a:p>
            <a:r>
              <a:rPr sz="1400">
                <a:solidFill>
                  <a:srgbClr val="FFFFFF"/>
                </a:solidFill>
                <a:latin typeface="Consolas"/>
              </a:rPr>
              <a:t>→ …</a:t>
            </a:r>
          </a:p>
          <a:p>
            <a:r>
              <a:rPr sz="1400">
                <a:solidFill>
                  <a:srgbClr val="FFFFFF"/>
                </a:solidFill>
                <a:latin typeface="Consolas"/>
              </a:rPr>
              <a:t>→ Install from VSIX…</a:t>
            </a:r>
          </a:p>
          <a:p>
            <a:r>
              <a:rPr sz="1400">
                <a:solidFill>
                  <a:srgbClr val="FFFFFF"/>
                </a:solidFill>
                <a:latin typeface="Consolas"/>
              </a:rPr>
              <a:t>→ python-extension.vsix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t>STEP 6</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t>Python 설치 확인</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17</a:t>
            </a:r>
          </a:p>
        </p:txBody>
      </p:sp>
      <p:sp>
        <p:nvSpPr>
          <p:cNvPr id="9" name="Rectangle 8"/>
          <p:cNvSpPr/>
          <p:nvPr/>
        </p:nvSpPr>
        <p:spPr>
          <a:xfrm>
            <a:off x="786384" y="1508760"/>
            <a:ext cx="2834640" cy="566928"/>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00200"/>
            <a:ext cx="2706624" cy="420623"/>
          </a:xfrm>
          <a:prstGeom prst="rect">
            <a:avLst/>
          </a:prstGeom>
          <a:noFill/>
        </p:spPr>
        <p:txBody>
          <a:bodyPr wrap="square" lIns="0" rIns="0" tIns="0" bIns="0" anchor="ctr">
            <a:normAutofit/>
          </a:bodyPr>
          <a:lstStyle/>
          <a:p>
            <a:pPr algn="ctr"/>
            <a:r>
              <a:rPr sz="1080" b="1">
                <a:solidFill>
                  <a:srgbClr val="FFFFFF"/>
                </a:solidFill>
                <a:latin typeface="Malgun Gothic"/>
              </a:rPr>
              <a:t>명령어</a:t>
            </a:r>
          </a:p>
        </p:txBody>
      </p:sp>
      <p:sp>
        <p:nvSpPr>
          <p:cNvPr id="11" name="Rectangle 10"/>
          <p:cNvSpPr/>
          <p:nvPr/>
        </p:nvSpPr>
        <p:spPr>
          <a:xfrm>
            <a:off x="3621024" y="1508760"/>
            <a:ext cx="3017520" cy="566928"/>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2" y="1600200"/>
            <a:ext cx="2889503" cy="420623"/>
          </a:xfrm>
          <a:prstGeom prst="rect">
            <a:avLst/>
          </a:prstGeom>
          <a:noFill/>
        </p:spPr>
        <p:txBody>
          <a:bodyPr wrap="square" lIns="0" rIns="0" tIns="0" bIns="0" anchor="ctr">
            <a:normAutofit/>
          </a:bodyPr>
          <a:lstStyle/>
          <a:p>
            <a:pPr algn="ctr"/>
            <a:r>
              <a:rPr sz="1080" b="1">
                <a:solidFill>
                  <a:srgbClr val="FFFFFF"/>
                </a:solidFill>
                <a:latin typeface="Malgun Gothic"/>
              </a:rPr>
              <a:t>성공 기준</a:t>
            </a:r>
          </a:p>
        </p:txBody>
      </p:sp>
      <p:sp>
        <p:nvSpPr>
          <p:cNvPr id="13" name="Rectangle 12"/>
          <p:cNvSpPr/>
          <p:nvPr/>
        </p:nvSpPr>
        <p:spPr>
          <a:xfrm>
            <a:off x="786384" y="2075688"/>
            <a:ext cx="2834640" cy="566928"/>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167128"/>
            <a:ext cx="2706624" cy="420623"/>
          </a:xfrm>
          <a:prstGeom prst="rect">
            <a:avLst/>
          </a:prstGeom>
          <a:noFill/>
        </p:spPr>
        <p:txBody>
          <a:bodyPr wrap="square" lIns="0" rIns="0" tIns="0" bIns="0" anchor="ctr">
            <a:normAutofit/>
          </a:bodyPr>
          <a:lstStyle/>
          <a:p>
            <a:pPr algn="ctr"/>
            <a:r>
              <a:rPr sz="1060" b="0">
                <a:solidFill>
                  <a:srgbClr val="172033"/>
                </a:solidFill>
                <a:latin typeface="Malgun Gothic"/>
              </a:rPr>
              <a:t>python --version</a:t>
            </a:r>
          </a:p>
        </p:txBody>
      </p:sp>
      <p:sp>
        <p:nvSpPr>
          <p:cNvPr id="15" name="Rectangle 14"/>
          <p:cNvSpPr/>
          <p:nvPr/>
        </p:nvSpPr>
        <p:spPr>
          <a:xfrm>
            <a:off x="3621024" y="2075688"/>
            <a:ext cx="3017520" cy="566928"/>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5032" y="2167128"/>
            <a:ext cx="2889503" cy="420623"/>
          </a:xfrm>
          <a:prstGeom prst="rect">
            <a:avLst/>
          </a:prstGeom>
          <a:noFill/>
        </p:spPr>
        <p:txBody>
          <a:bodyPr wrap="square" lIns="0" rIns="0" tIns="0" bIns="0" anchor="ctr">
            <a:normAutofit/>
          </a:bodyPr>
          <a:lstStyle/>
          <a:p>
            <a:pPr algn="ctr"/>
            <a:r>
              <a:rPr sz="1060" b="0">
                <a:solidFill>
                  <a:srgbClr val="172033"/>
                </a:solidFill>
                <a:latin typeface="Malgun Gothic"/>
              </a:rPr>
              <a:t>Python 3.x.x 표시</a:t>
            </a:r>
          </a:p>
        </p:txBody>
      </p:sp>
      <p:sp>
        <p:nvSpPr>
          <p:cNvPr id="17" name="Rectangle 16"/>
          <p:cNvSpPr/>
          <p:nvPr/>
        </p:nvSpPr>
        <p:spPr>
          <a:xfrm>
            <a:off x="786384" y="2642615"/>
            <a:ext cx="2834640" cy="566928"/>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2734056"/>
            <a:ext cx="2706624" cy="420623"/>
          </a:xfrm>
          <a:prstGeom prst="rect">
            <a:avLst/>
          </a:prstGeom>
          <a:noFill/>
        </p:spPr>
        <p:txBody>
          <a:bodyPr wrap="square" lIns="0" rIns="0" tIns="0" bIns="0" anchor="ctr">
            <a:normAutofit/>
          </a:bodyPr>
          <a:lstStyle/>
          <a:p>
            <a:pPr algn="ctr"/>
            <a:r>
              <a:rPr sz="1060" b="0">
                <a:solidFill>
                  <a:srgbClr val="172033"/>
                </a:solidFill>
                <a:latin typeface="Malgun Gothic"/>
              </a:rPr>
              <a:t>py --version</a:t>
            </a:r>
          </a:p>
        </p:txBody>
      </p:sp>
      <p:sp>
        <p:nvSpPr>
          <p:cNvPr id="19" name="Rectangle 18"/>
          <p:cNvSpPr/>
          <p:nvPr/>
        </p:nvSpPr>
        <p:spPr>
          <a:xfrm>
            <a:off x="3621024" y="2642615"/>
            <a:ext cx="3017520" cy="566928"/>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85032" y="2734056"/>
            <a:ext cx="2889503" cy="420623"/>
          </a:xfrm>
          <a:prstGeom prst="rect">
            <a:avLst/>
          </a:prstGeom>
          <a:noFill/>
        </p:spPr>
        <p:txBody>
          <a:bodyPr wrap="square" lIns="0" rIns="0" tIns="0" bIns="0" anchor="ctr">
            <a:normAutofit/>
          </a:bodyPr>
          <a:lstStyle/>
          <a:p>
            <a:pPr algn="ctr"/>
            <a:r>
              <a:rPr sz="1060" b="0">
                <a:solidFill>
                  <a:srgbClr val="172033"/>
                </a:solidFill>
                <a:latin typeface="Malgun Gothic"/>
              </a:rPr>
              <a:t>Python 3.x.x 표시</a:t>
            </a:r>
          </a:p>
        </p:txBody>
      </p:sp>
      <p:sp>
        <p:nvSpPr>
          <p:cNvPr id="21" name="Rounded Rectangle 20"/>
          <p:cNvSpPr/>
          <p:nvPr/>
        </p:nvSpPr>
        <p:spPr>
          <a:xfrm>
            <a:off x="786384" y="3886200"/>
            <a:ext cx="5897880" cy="685800"/>
          </a:xfrm>
          <a:prstGeom prst="roundRect">
            <a:avLst/>
          </a:prstGeom>
          <a:solidFill>
            <a:srgbClr val="FFF7E6"/>
          </a:solidFill>
          <a:ln w="10160">
            <a:solidFill>
              <a:srgbClr val="F0D7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 y="4014215"/>
            <a:ext cx="5568696" cy="466344"/>
          </a:xfrm>
          <a:prstGeom prst="rect">
            <a:avLst/>
          </a:prstGeom>
          <a:noFill/>
        </p:spPr>
        <p:txBody>
          <a:bodyPr wrap="square" lIns="0" rIns="0" tIns="0" bIns="0">
            <a:normAutofit/>
          </a:bodyPr>
          <a:lstStyle/>
          <a:p>
            <a:r>
              <a:rPr sz="1220" b="0">
                <a:solidFill>
                  <a:srgbClr val="5A4217"/>
                </a:solidFill>
                <a:latin typeface="Malgun Gothic"/>
              </a:rPr>
              <a:t>명령어가 안 되면 Python 설치 시 “Add python.exe to PATH” 체크 여부를 확인합니다.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t>STEP 7</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VS Code에서 실습 폴더 열기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18</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rPr sz="1450" b="0">
                <a:solidFill>
                  <a:srgbClr val="172033"/>
                </a:solidFill>
                <a:latin typeface="Malgun Gothic"/>
              </a:rPr>
              <a:t>VS Code 실행</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rPr sz="1450" b="0">
                <a:solidFill>
                  <a:srgbClr val="172033"/>
                </a:solidFill>
                <a:latin typeface="Malgun Gothic"/>
              </a:rPr>
              <a:t>File → Open Folder 선택</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rPr sz="1450" b="0">
                <a:solidFill>
                  <a:srgbClr val="172033"/>
                </a:solidFill>
                <a:latin typeface="Malgun Gothic"/>
              </a:rPr>
              <a:t>D:\vibe_excel 선택</a:t>
            </a:r>
          </a:p>
        </p:txBody>
      </p:sp>
      <p:sp>
        <p:nvSpPr>
          <p:cNvPr id="15" name="TextBox 14"/>
          <p:cNvSpPr txBox="1"/>
          <p:nvPr/>
        </p:nvSpPr>
        <p:spPr>
          <a:xfrm>
            <a:off x="804672" y="293522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6" name="TextBox 15"/>
          <p:cNvSpPr txBox="1"/>
          <p:nvPr/>
        </p:nvSpPr>
        <p:spPr>
          <a:xfrm>
            <a:off x="1097280" y="2935224"/>
            <a:ext cx="5650992" cy="310896"/>
          </a:xfrm>
          <a:prstGeom prst="rect">
            <a:avLst/>
          </a:prstGeom>
          <a:noFill/>
        </p:spPr>
        <p:txBody>
          <a:bodyPr wrap="square" lIns="0" rIns="0" tIns="0" bIns="0">
            <a:normAutofit/>
          </a:bodyPr>
          <a:lstStyle/>
          <a:p>
            <a:r>
              <a:rPr sz="1450" b="0">
                <a:solidFill>
                  <a:srgbClr val="172033"/>
                </a:solidFill>
                <a:latin typeface="Malgun Gothic"/>
              </a:rPr>
              <a:t>왼쪽 탐색기에 input, output 폴더가 보이면 성공</a:t>
            </a:r>
          </a:p>
        </p:txBody>
      </p:sp>
      <p:sp>
        <p:nvSpPr>
          <p:cNvPr id="17" name="Rounded Rectangle 16"/>
          <p:cNvSpPr/>
          <p:nvPr/>
        </p:nvSpPr>
        <p:spPr>
          <a:xfrm>
            <a:off x="804672" y="4663440"/>
            <a:ext cx="5897880" cy="640080"/>
          </a:xfrm>
          <a:prstGeom prst="roundRect">
            <a:avLst/>
          </a:prstGeom>
          <a:solidFill>
            <a:srgbClr val="FFF7E6"/>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773168"/>
            <a:ext cx="5568696" cy="438912"/>
          </a:xfrm>
          <a:prstGeom prst="rect">
            <a:avLst/>
          </a:prstGeom>
          <a:noFill/>
        </p:spPr>
        <p:txBody>
          <a:bodyPr wrap="square" lIns="0" rIns="0" tIns="0" bIns="0">
            <a:normAutofit/>
          </a:bodyPr>
          <a:lstStyle/>
          <a:p>
            <a:r>
              <a:rPr sz="1400" b="1">
                <a:solidFill>
                  <a:srgbClr val="092642"/>
                </a:solidFill>
                <a:latin typeface="Malgun Gothic"/>
              </a:rPr>
              <a:t>체크 포인트: input, output이 보이지 않으면 폴더를 잘못 연 것입니다.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t>STEP 8</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터미널 열기와 위치 확인</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19</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rPr sz="1450" b="0">
                <a:solidFill>
                  <a:srgbClr val="172033"/>
                </a:solidFill>
                <a:latin typeface="Malgun Gothic"/>
              </a:rPr>
              <a:t>VS Code 상단 메뉴: Terminal → New Terminal</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rPr sz="1450" b="0">
                <a:solidFill>
                  <a:srgbClr val="172033"/>
                </a:solidFill>
                <a:latin typeface="Malgun Gothic"/>
              </a:rPr>
              <a:t>터미널 위치가 D:\vibe_excel인지 확인</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rPr sz="1450" b="0">
                <a:solidFill>
                  <a:srgbClr val="172033"/>
                </a:solidFill>
                <a:latin typeface="Malgun Gothic"/>
              </a:rPr>
              <a:t>다른 위치라면 cd /d D:\vibe_excel 입력</a:t>
            </a:r>
          </a:p>
        </p:txBody>
      </p:sp>
      <p:sp>
        <p:nvSpPr>
          <p:cNvPr id="15" name="Rounded Rectangle 14"/>
          <p:cNvSpPr/>
          <p:nvPr/>
        </p:nvSpPr>
        <p:spPr>
          <a:xfrm>
            <a:off x="868680" y="3886200"/>
            <a:ext cx="5212080" cy="10058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3" y="3995928"/>
            <a:ext cx="4919472" cy="795528"/>
          </a:xfrm>
          <a:prstGeom prst="rect">
            <a:avLst/>
          </a:prstGeom>
          <a:noFill/>
        </p:spPr>
        <p:txBody>
          <a:bodyPr wrap="square" lIns="0" rIns="0" tIns="0" bIns="0">
            <a:normAutofit/>
          </a:bodyPr>
          <a:lstStyle/>
          <a:p>
            <a:r>
              <a:rPr sz="1500" b="0">
                <a:solidFill>
                  <a:srgbClr val="EEF4FA"/>
                </a:solidFill>
                <a:latin typeface="Consolas"/>
              </a:rPr>
              <a:t>D:\vibe_excel&gt;
cd /d D:\vibe_excel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t>STEP 9</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t>오프라인 라이브러리 설치</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t>인터넷 대신 강사가 제공한 packages 폴더에서 설치합니다.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20</a:t>
            </a:r>
          </a:p>
        </p:txBody>
      </p:sp>
      <p:sp>
        <p:nvSpPr>
          <p:cNvPr id="10" name="Rounded Rectangle 9"/>
          <p:cNvSpPr/>
          <p:nvPr/>
        </p:nvSpPr>
        <p:spPr>
          <a:xfrm>
            <a:off x="804672" y="1874519"/>
            <a:ext cx="5943600" cy="132588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1984248"/>
            <a:ext cx="5650992" cy="1115568"/>
          </a:xfrm>
          <a:prstGeom prst="rect">
            <a:avLst/>
          </a:prstGeom>
          <a:noFill/>
        </p:spPr>
        <p:txBody>
          <a:bodyPr wrap="square" lIns="0" rIns="0" tIns="0" bIns="0">
            <a:normAutofit/>
          </a:bodyPr>
          <a:lstStyle/>
          <a:p>
            <a:r>
              <a:rPr sz="1500">
                <a:solidFill>
                  <a:srgbClr val="FFFFFF"/>
                </a:solidFill>
                <a:latin typeface="Consolas"/>
              </a:rPr>
              <a:t>py -m pip install --no-index --find-links=D:\vibe_setup\packages pandas openpyxl</a:t>
            </a:r>
          </a:p>
          <a:p>
            <a:r>
              <a:rPr sz="1500">
                <a:solidFill>
                  <a:srgbClr val="FFFFFF"/>
                </a:solidFill>
                <a:latin typeface="Consolas"/>
              </a:rPr>
              <a:t/>
            </a:r>
          </a:p>
          <a:p>
            <a:r>
              <a:rPr sz="1500">
                <a:solidFill>
                  <a:srgbClr val="FFFFFF"/>
                </a:solidFill>
                <a:latin typeface="Consolas"/>
              </a:rPr>
              <a:t>py -m pip list</a:t>
            </a:r>
          </a:p>
        </p:txBody>
      </p:sp>
      <p:sp>
        <p:nvSpPr>
          <p:cNvPr id="12" name="Rectangle 11"/>
          <p:cNvSpPr/>
          <p:nvPr/>
        </p:nvSpPr>
        <p:spPr>
          <a:xfrm>
            <a:off x="804672" y="3703320"/>
            <a:ext cx="1828800" cy="548640"/>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794759"/>
            <a:ext cx="1700784" cy="402335"/>
          </a:xfrm>
          <a:prstGeom prst="rect">
            <a:avLst/>
          </a:prstGeom>
          <a:noFill/>
        </p:spPr>
        <p:txBody>
          <a:bodyPr wrap="square" lIns="0" rIns="0" tIns="0" bIns="0" anchor="ctr">
            <a:normAutofit/>
          </a:bodyPr>
          <a:lstStyle/>
          <a:p>
            <a:pPr algn="ctr"/>
            <a:r>
              <a:rPr sz="1080" b="1">
                <a:solidFill>
                  <a:srgbClr val="FFFFFF"/>
                </a:solidFill>
                <a:latin typeface="Malgun Gothic"/>
              </a:rPr>
              <a:t>라이브러리</a:t>
            </a:r>
          </a:p>
        </p:txBody>
      </p:sp>
      <p:sp>
        <p:nvSpPr>
          <p:cNvPr id="14" name="Rectangle 13"/>
          <p:cNvSpPr/>
          <p:nvPr/>
        </p:nvSpPr>
        <p:spPr>
          <a:xfrm>
            <a:off x="2633472" y="3703320"/>
            <a:ext cx="4206240" cy="548640"/>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79" y="3794759"/>
            <a:ext cx="4078224" cy="402335"/>
          </a:xfrm>
          <a:prstGeom prst="rect">
            <a:avLst/>
          </a:prstGeom>
          <a:noFill/>
        </p:spPr>
        <p:txBody>
          <a:bodyPr wrap="square" lIns="0" rIns="0" tIns="0" bIns="0" anchor="ctr">
            <a:normAutofit/>
          </a:bodyPr>
          <a:lstStyle/>
          <a:p>
            <a:pPr algn="ctr"/>
            <a:r>
              <a:rPr sz="1080" b="1">
                <a:solidFill>
                  <a:srgbClr val="FFFFFF"/>
                </a:solidFill>
                <a:latin typeface="Malgun Gothic"/>
              </a:rPr>
              <a:t>역할</a:t>
            </a:r>
          </a:p>
        </p:txBody>
      </p:sp>
      <p:sp>
        <p:nvSpPr>
          <p:cNvPr id="16" name="Rectangle 15"/>
          <p:cNvSpPr/>
          <p:nvPr/>
        </p:nvSpPr>
        <p:spPr>
          <a:xfrm>
            <a:off x="804672" y="4251959"/>
            <a:ext cx="1828800" cy="548640"/>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343399"/>
            <a:ext cx="1700784" cy="402335"/>
          </a:xfrm>
          <a:prstGeom prst="rect">
            <a:avLst/>
          </a:prstGeom>
          <a:noFill/>
        </p:spPr>
        <p:txBody>
          <a:bodyPr wrap="square" lIns="0" rIns="0" tIns="0" bIns="0" anchor="ctr">
            <a:normAutofit/>
          </a:bodyPr>
          <a:lstStyle/>
          <a:p>
            <a:pPr algn="ctr"/>
            <a:r>
              <a:rPr sz="1080" b="0">
                <a:solidFill>
                  <a:srgbClr val="172033"/>
                </a:solidFill>
                <a:latin typeface="Malgun Gothic"/>
              </a:rPr>
              <a:t>pandas</a:t>
            </a:r>
          </a:p>
        </p:txBody>
      </p:sp>
      <p:sp>
        <p:nvSpPr>
          <p:cNvPr id="18" name="Rectangle 17"/>
          <p:cNvSpPr/>
          <p:nvPr/>
        </p:nvSpPr>
        <p:spPr>
          <a:xfrm>
            <a:off x="2633472" y="4251959"/>
            <a:ext cx="4206240" cy="548640"/>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97479" y="4343399"/>
            <a:ext cx="4078224" cy="402335"/>
          </a:xfrm>
          <a:prstGeom prst="rect">
            <a:avLst/>
          </a:prstGeom>
          <a:noFill/>
        </p:spPr>
        <p:txBody>
          <a:bodyPr wrap="square" lIns="0" rIns="0" tIns="0" bIns="0" anchor="ctr">
            <a:normAutofit/>
          </a:bodyPr>
          <a:lstStyle/>
          <a:p>
            <a:pPr algn="ctr"/>
            <a:r>
              <a:rPr sz="1080" b="0">
                <a:solidFill>
                  <a:srgbClr val="172033"/>
                </a:solidFill>
                <a:latin typeface="Malgun Gothic"/>
              </a:rPr>
              <a:t>엑셀 자료를 표처럼 읽고 합치기</a:t>
            </a:r>
          </a:p>
        </p:txBody>
      </p:sp>
      <p:sp>
        <p:nvSpPr>
          <p:cNvPr id="20" name="Rectangle 19"/>
          <p:cNvSpPr/>
          <p:nvPr/>
        </p:nvSpPr>
        <p:spPr>
          <a:xfrm>
            <a:off x="804672" y="4800600"/>
            <a:ext cx="1828800" cy="548640"/>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892040"/>
            <a:ext cx="1700784" cy="402335"/>
          </a:xfrm>
          <a:prstGeom prst="rect">
            <a:avLst/>
          </a:prstGeom>
          <a:noFill/>
        </p:spPr>
        <p:txBody>
          <a:bodyPr wrap="square" lIns="0" rIns="0" tIns="0" bIns="0" anchor="ctr">
            <a:normAutofit/>
          </a:bodyPr>
          <a:lstStyle/>
          <a:p>
            <a:pPr algn="ctr"/>
            <a:r>
              <a:rPr sz="1080" b="0">
                <a:solidFill>
                  <a:srgbClr val="172033"/>
                </a:solidFill>
                <a:latin typeface="Malgun Gothic"/>
              </a:rPr>
              <a:t>openpyxl</a:t>
            </a:r>
          </a:p>
        </p:txBody>
      </p:sp>
      <p:sp>
        <p:nvSpPr>
          <p:cNvPr id="22" name="Rectangle 21"/>
          <p:cNvSpPr/>
          <p:nvPr/>
        </p:nvSpPr>
        <p:spPr>
          <a:xfrm>
            <a:off x="2633472" y="4800600"/>
            <a:ext cx="4206240" cy="548640"/>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97479" y="4892040"/>
            <a:ext cx="4078224" cy="402335"/>
          </a:xfrm>
          <a:prstGeom prst="rect">
            <a:avLst/>
          </a:prstGeom>
          <a:noFill/>
        </p:spPr>
        <p:txBody>
          <a:bodyPr wrap="square" lIns="0" rIns="0" tIns="0" bIns="0" anchor="ctr">
            <a:normAutofit/>
          </a:bodyPr>
          <a:lstStyle/>
          <a:p>
            <a:pPr algn="ctr"/>
            <a:r>
              <a:rPr sz="1080" b="0">
                <a:solidFill>
                  <a:srgbClr val="172033"/>
                </a:solidFill>
                <a:latin typeface="Malgun Gothic"/>
              </a:rPr>
              <a:t>xlsx 파일 저장 엔진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CHECKLIST</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개발환경 세팅 체크리스트</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개발환경</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21</a:t>
            </a:r>
          </a:p>
        </p:txBody>
      </p:sp>
      <p:sp>
        <p:nvSpPr>
          <p:cNvPr id="9" name="Rounded Rectangle 8"/>
          <p:cNvSpPr/>
          <p:nvPr/>
        </p:nvSpPr>
        <p:spPr>
          <a:xfrm>
            <a:off x="804672" y="137160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481328"/>
            <a:ext cx="256032" cy="164592"/>
          </a:xfrm>
          <a:prstGeom prst="rect">
            <a:avLst/>
          </a:prstGeom>
          <a:noFill/>
        </p:spPr>
        <p:txBody>
          <a:bodyPr wrap="square" lIns="0" rIns="0" tIns="0" bIns="0">
            <a:normAutofit/>
          </a:bodyPr>
          <a:lstStyle/>
          <a:p>
            <a:r>
              <a:rPr sz="1100" b="1">
                <a:solidFill>
                  <a:srgbClr val="D8A94A"/>
                </a:solidFill>
                <a:latin typeface="Malgun Gothic"/>
              </a:rPr>
              <a:t>1</a:t>
            </a:r>
          </a:p>
        </p:txBody>
      </p:sp>
      <p:sp>
        <p:nvSpPr>
          <p:cNvPr id="11" name="TextBox 10"/>
          <p:cNvSpPr txBox="1"/>
          <p:nvPr/>
        </p:nvSpPr>
        <p:spPr>
          <a:xfrm>
            <a:off x="1280160" y="1481328"/>
            <a:ext cx="5422392" cy="164592"/>
          </a:xfrm>
          <a:prstGeom prst="rect">
            <a:avLst/>
          </a:prstGeom>
          <a:noFill/>
        </p:spPr>
        <p:txBody>
          <a:bodyPr wrap="square" lIns="0" rIns="0" tIns="0" bIns="0">
            <a:normAutofit/>
          </a:bodyPr>
          <a:lstStyle/>
          <a:p>
            <a:r>
              <a:t>설치 파일 폴더를 PC에 복사했다</a:t>
            </a:r>
          </a:p>
        </p:txBody>
      </p:sp>
      <p:sp>
        <p:nvSpPr>
          <p:cNvPr id="12" name="Rounded Rectangle 11"/>
          <p:cNvSpPr/>
          <p:nvPr/>
        </p:nvSpPr>
        <p:spPr>
          <a:xfrm>
            <a:off x="804672" y="1956816"/>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066544"/>
            <a:ext cx="256032" cy="164592"/>
          </a:xfrm>
          <a:prstGeom prst="rect">
            <a:avLst/>
          </a:prstGeom>
          <a:noFill/>
        </p:spPr>
        <p:txBody>
          <a:bodyPr wrap="square" lIns="0" rIns="0" tIns="0" bIns="0">
            <a:normAutofit/>
          </a:bodyPr>
          <a:lstStyle/>
          <a:p>
            <a:r>
              <a:rPr sz="1100" b="1">
                <a:solidFill>
                  <a:srgbClr val="D8A94A"/>
                </a:solidFill>
                <a:latin typeface="Malgun Gothic"/>
              </a:rPr>
              <a:t>2</a:t>
            </a:r>
          </a:p>
        </p:txBody>
      </p:sp>
      <p:sp>
        <p:nvSpPr>
          <p:cNvPr id="14" name="TextBox 13"/>
          <p:cNvSpPr txBox="1"/>
          <p:nvPr/>
        </p:nvSpPr>
        <p:spPr>
          <a:xfrm>
            <a:off x="1280160" y="2066544"/>
            <a:ext cx="5422392" cy="164592"/>
          </a:xfrm>
          <a:prstGeom prst="rect">
            <a:avLst/>
          </a:prstGeom>
          <a:noFill/>
        </p:spPr>
        <p:txBody>
          <a:bodyPr wrap="square" lIns="0" rIns="0" tIns="0" bIns="0">
            <a:normAutofit/>
          </a:bodyPr>
          <a:lstStyle/>
          <a:p>
            <a:r>
              <a:t>Python 설치 시 PATH를 체크했다</a:t>
            </a:r>
          </a:p>
        </p:txBody>
      </p:sp>
      <p:sp>
        <p:nvSpPr>
          <p:cNvPr id="15" name="Rounded Rectangle 14"/>
          <p:cNvSpPr/>
          <p:nvPr/>
        </p:nvSpPr>
        <p:spPr>
          <a:xfrm>
            <a:off x="804672" y="2542032"/>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651760"/>
            <a:ext cx="256032" cy="164592"/>
          </a:xfrm>
          <a:prstGeom prst="rect">
            <a:avLst/>
          </a:prstGeom>
          <a:noFill/>
        </p:spPr>
        <p:txBody>
          <a:bodyPr wrap="square" lIns="0" rIns="0" tIns="0" bIns="0">
            <a:normAutofit/>
          </a:bodyPr>
          <a:lstStyle/>
          <a:p>
            <a:r>
              <a:rPr sz="1100" b="1">
                <a:solidFill>
                  <a:srgbClr val="D8A94A"/>
                </a:solidFill>
                <a:latin typeface="Malgun Gothic"/>
              </a:rPr>
              <a:t>3</a:t>
            </a:r>
          </a:p>
        </p:txBody>
      </p:sp>
      <p:sp>
        <p:nvSpPr>
          <p:cNvPr id="17" name="TextBox 16"/>
          <p:cNvSpPr txBox="1"/>
          <p:nvPr/>
        </p:nvSpPr>
        <p:spPr>
          <a:xfrm>
            <a:off x="1280160" y="2651760"/>
            <a:ext cx="5422392" cy="164592"/>
          </a:xfrm>
          <a:prstGeom prst="rect">
            <a:avLst/>
          </a:prstGeom>
          <a:noFill/>
        </p:spPr>
        <p:txBody>
          <a:bodyPr wrap="square" lIns="0" rIns="0" tIns="0" bIns="0">
            <a:normAutofit/>
          </a:bodyPr>
          <a:lstStyle/>
          <a:p>
            <a:r>
              <a:t>python 또는 py 버전이 확인된다</a:t>
            </a:r>
          </a:p>
        </p:txBody>
      </p:sp>
      <p:sp>
        <p:nvSpPr>
          <p:cNvPr id="18" name="Rounded Rectangle 17"/>
          <p:cNvSpPr/>
          <p:nvPr/>
        </p:nvSpPr>
        <p:spPr>
          <a:xfrm>
            <a:off x="804672" y="3127248"/>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236976"/>
            <a:ext cx="256032" cy="164592"/>
          </a:xfrm>
          <a:prstGeom prst="rect">
            <a:avLst/>
          </a:prstGeom>
          <a:noFill/>
        </p:spPr>
        <p:txBody>
          <a:bodyPr wrap="square" lIns="0" rIns="0" tIns="0" bIns="0">
            <a:normAutofit/>
          </a:bodyPr>
          <a:lstStyle/>
          <a:p>
            <a:r>
              <a:rPr sz="1100" b="1">
                <a:solidFill>
                  <a:srgbClr val="D8A94A"/>
                </a:solidFill>
                <a:latin typeface="Malgun Gothic"/>
              </a:rPr>
              <a:t>4</a:t>
            </a:r>
          </a:p>
        </p:txBody>
      </p:sp>
      <p:sp>
        <p:nvSpPr>
          <p:cNvPr id="20" name="TextBox 19"/>
          <p:cNvSpPr txBox="1"/>
          <p:nvPr/>
        </p:nvSpPr>
        <p:spPr>
          <a:xfrm>
            <a:off x="1280160" y="3236976"/>
            <a:ext cx="5422392" cy="164592"/>
          </a:xfrm>
          <a:prstGeom prst="rect">
            <a:avLst/>
          </a:prstGeom>
          <a:noFill/>
        </p:spPr>
        <p:txBody>
          <a:bodyPr wrap="square" lIns="0" rIns="0" tIns="0" bIns="0">
            <a:normAutofit/>
          </a:bodyPr>
          <a:lstStyle/>
          <a:p>
            <a:r>
              <a:t>VS Code와 Python 확장을 설치했다</a:t>
            </a:r>
          </a:p>
        </p:txBody>
      </p:sp>
      <p:sp>
        <p:nvSpPr>
          <p:cNvPr id="21" name="Rounded Rectangle 20"/>
          <p:cNvSpPr/>
          <p:nvPr/>
        </p:nvSpPr>
        <p:spPr>
          <a:xfrm>
            <a:off x="804672" y="3712464"/>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822192"/>
            <a:ext cx="256032" cy="164592"/>
          </a:xfrm>
          <a:prstGeom prst="rect">
            <a:avLst/>
          </a:prstGeom>
          <a:noFill/>
        </p:spPr>
        <p:txBody>
          <a:bodyPr wrap="square" lIns="0" rIns="0" tIns="0" bIns="0">
            <a:normAutofit/>
          </a:bodyPr>
          <a:lstStyle/>
          <a:p>
            <a:r>
              <a:rPr sz="1100" b="1">
                <a:solidFill>
                  <a:srgbClr val="D8A94A"/>
                </a:solidFill>
                <a:latin typeface="Malgun Gothic"/>
              </a:rPr>
              <a:t>5</a:t>
            </a:r>
          </a:p>
        </p:txBody>
      </p:sp>
      <p:sp>
        <p:nvSpPr>
          <p:cNvPr id="23" name="TextBox 22"/>
          <p:cNvSpPr txBox="1"/>
          <p:nvPr/>
        </p:nvSpPr>
        <p:spPr>
          <a:xfrm>
            <a:off x="1280160" y="3822192"/>
            <a:ext cx="5422392" cy="164592"/>
          </a:xfrm>
          <a:prstGeom prst="rect">
            <a:avLst/>
          </a:prstGeom>
          <a:noFill/>
        </p:spPr>
        <p:txBody>
          <a:bodyPr wrap="square" lIns="0" rIns="0" tIns="0" bIns="0">
            <a:normAutofit/>
          </a:bodyPr>
          <a:lstStyle/>
          <a:p>
            <a:r>
              <a:t>VS Code에서 D:\vibe_excel을 열었다</a:t>
            </a:r>
          </a:p>
        </p:txBody>
      </p:sp>
      <p:sp>
        <p:nvSpPr>
          <p:cNvPr id="24" name="Rounded Rectangle 23"/>
          <p:cNvSpPr/>
          <p:nvPr/>
        </p:nvSpPr>
        <p:spPr>
          <a:xfrm>
            <a:off x="804672" y="429768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4407408"/>
            <a:ext cx="256032" cy="164592"/>
          </a:xfrm>
          <a:prstGeom prst="rect">
            <a:avLst/>
          </a:prstGeom>
          <a:noFill/>
        </p:spPr>
        <p:txBody>
          <a:bodyPr wrap="square" lIns="0" rIns="0" tIns="0" bIns="0">
            <a:normAutofit/>
          </a:bodyPr>
          <a:lstStyle/>
          <a:p>
            <a:r>
              <a:rPr sz="1100" b="1">
                <a:solidFill>
                  <a:srgbClr val="D8A94A"/>
                </a:solidFill>
                <a:latin typeface="Malgun Gothic"/>
              </a:rPr>
              <a:t>6</a:t>
            </a:r>
          </a:p>
        </p:txBody>
      </p:sp>
      <p:sp>
        <p:nvSpPr>
          <p:cNvPr id="26" name="TextBox 25"/>
          <p:cNvSpPr txBox="1"/>
          <p:nvPr/>
        </p:nvSpPr>
        <p:spPr>
          <a:xfrm>
            <a:off x="1280160" y="4407408"/>
            <a:ext cx="5422392" cy="164592"/>
          </a:xfrm>
          <a:prstGeom prst="rect">
            <a:avLst/>
          </a:prstGeom>
          <a:noFill/>
        </p:spPr>
        <p:txBody>
          <a:bodyPr wrap="square" lIns="0" rIns="0" tIns="0" bIns="0">
            <a:normAutofit/>
          </a:bodyPr>
          <a:lstStyle/>
          <a:p>
            <a:r>
              <a:t>오프라인으로 pandas·openpyxl을 설치했다</a:t>
            </a:r>
          </a:p>
        </p:txBody>
      </p:sp>
      <p:sp>
        <p:nvSpPr>
          <p:cNvPr id="27" name="Rounded Rectangle 26"/>
          <p:cNvSpPr/>
          <p:nvPr/>
        </p:nvSpPr>
        <p:spPr>
          <a:xfrm>
            <a:off x="804672" y="5166360"/>
            <a:ext cx="5989320" cy="658368"/>
          </a:xfrm>
          <a:prstGeom prst="roundRect">
            <a:avLst/>
          </a:prstGeom>
          <a:solidFill>
            <a:srgbClr val="FFF7E6"/>
          </a:solidFill>
          <a:ln w="10160">
            <a:solidFill>
              <a:srgbClr val="F0D7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5294376"/>
            <a:ext cx="5660136" cy="438912"/>
          </a:xfrm>
          <a:prstGeom prst="rect">
            <a:avLst/>
          </a:prstGeom>
          <a:noFill/>
        </p:spPr>
        <p:txBody>
          <a:bodyPr wrap="square" lIns="0" rIns="0" tIns="0" bIns="0">
            <a:normAutofit/>
          </a:bodyPr>
          <a:lstStyle/>
          <a:p>
            <a:r>
              <a:rPr sz="1220" b="0">
                <a:solidFill>
                  <a:srgbClr val="5A4217"/>
                </a:solidFill>
                <a:latin typeface="Malgun Gothic"/>
              </a:rPr>
              <a:t>여기까지 오면 절반은 성공입니다. 초보자에게는 코드보다 환경 세팅이 더 어렵습니다.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92642"/>
        </a:solidFill>
        <a:effectLst/>
      </p:bgPr>
    </p:bg>
    <p:spTree>
      <p:nvGrpSpPr>
        <p:cNvPr id="1" name=""/>
        <p:cNvGrpSpPr/>
        <p:nvPr/>
      </p:nvGrpSpPr>
      <p:grpSpPr/>
      <p:pic>
        <p:nvPicPr>
          <p:cNvPr id="2" name="Picture 1" descr="tmp_crop_331189376530781729.jpg"/>
          <p:cNvPicPr>
            <a:picLocks noChangeAspect="1"/>
          </p:cNvPicPr>
          <p:nvPr/>
        </p:nvPicPr>
        <p:blipFill>
          <a:blip r:embed="rId2"/>
          <a:stretch>
            <a:fillRect/>
          </a:stretch>
        </p:blipFill>
        <p:spPr>
          <a:xfrm>
            <a:off x="6080760" y="0"/>
            <a:ext cx="6108192" cy="6858000"/>
          </a:xfrm>
          <a:prstGeom prst="rect">
            <a:avLst/>
          </a:prstGeom>
        </p:spPr>
      </p:pic>
      <p:sp>
        <p:nvSpPr>
          <p:cNvPr id="3" name="Rectangle 2"/>
          <p:cNvSpPr/>
          <p:nvPr/>
        </p:nvSpPr>
        <p:spPr>
          <a:xfrm>
            <a:off x="0" y="0"/>
            <a:ext cx="6309360" cy="6858000"/>
          </a:xfrm>
          <a:prstGeom prst="rect">
            <a:avLst/>
          </a:prstGeom>
          <a:solidFill>
            <a:srgbClr val="09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58368"/>
            <a:ext cx="914400" cy="201168"/>
          </a:xfrm>
          <a:prstGeom prst="rect">
            <a:avLst/>
          </a:prstGeom>
          <a:noFill/>
        </p:spPr>
        <p:txBody>
          <a:bodyPr wrap="square" lIns="0" rIns="0" tIns="0" bIns="0">
            <a:normAutofit/>
          </a:bodyPr>
          <a:lstStyle/>
          <a:p>
            <a:r>
              <a:rPr sz="950" b="1">
                <a:solidFill>
                  <a:srgbClr val="F3C56B"/>
                </a:solidFill>
                <a:latin typeface="Malgun Gothic"/>
              </a:rPr>
              <a:t>PART</a:t>
            </a:r>
          </a:p>
        </p:txBody>
      </p:sp>
      <p:sp>
        <p:nvSpPr>
          <p:cNvPr id="5" name="TextBox 4"/>
          <p:cNvSpPr txBox="1"/>
          <p:nvPr/>
        </p:nvSpPr>
        <p:spPr>
          <a:xfrm>
            <a:off x="713232" y="987552"/>
            <a:ext cx="1371600" cy="457200"/>
          </a:xfrm>
          <a:prstGeom prst="rect">
            <a:avLst/>
          </a:prstGeom>
          <a:noFill/>
        </p:spPr>
        <p:txBody>
          <a:bodyPr wrap="square" lIns="0" rIns="0" tIns="0" bIns="0">
            <a:normAutofit/>
          </a:bodyPr>
          <a:lstStyle/>
          <a:p>
            <a:r>
              <a:rPr sz="2800" b="1">
                <a:solidFill>
                  <a:srgbClr val="F3C56B"/>
                </a:solidFill>
                <a:latin typeface="Malgun Gothic"/>
              </a:rPr>
              <a:t>03</a:t>
            </a:r>
          </a:p>
        </p:txBody>
      </p:sp>
      <p:sp>
        <p:nvSpPr>
          <p:cNvPr id="6" name="TextBox 5"/>
          <p:cNvSpPr txBox="1"/>
          <p:nvPr/>
        </p:nvSpPr>
        <p:spPr>
          <a:xfrm>
            <a:off x="713232" y="1828800"/>
            <a:ext cx="5120640" cy="1051560"/>
          </a:xfrm>
          <a:prstGeom prst="rect">
            <a:avLst/>
          </a:prstGeom>
          <a:noFill/>
        </p:spPr>
        <p:txBody>
          <a:bodyPr wrap="square" lIns="0" rIns="0" tIns="0" bIns="0">
            <a:normAutofit/>
          </a:bodyPr>
          <a:lstStyle/>
          <a:p>
            <a:r>
              <a:rPr sz="3300" b="1">
                <a:solidFill>
                  <a:srgbClr val="FFFFFF"/>
                </a:solidFill>
                <a:latin typeface="Malgun Gothic"/>
              </a:rPr>
              <a:t>초급 과정
엑셀 취합 실습</a:t>
            </a:r>
          </a:p>
        </p:txBody>
      </p:sp>
      <p:sp>
        <p:nvSpPr>
          <p:cNvPr id="7" name="TextBox 6"/>
          <p:cNvSpPr txBox="1"/>
          <p:nvPr/>
        </p:nvSpPr>
        <p:spPr>
          <a:xfrm>
            <a:off x="749808" y="3456432"/>
            <a:ext cx="5120640" cy="777240"/>
          </a:xfrm>
          <a:prstGeom prst="rect">
            <a:avLst/>
          </a:prstGeom>
          <a:noFill/>
        </p:spPr>
        <p:txBody>
          <a:bodyPr wrap="square" lIns="0" rIns="0" tIns="0" bIns="0">
            <a:normAutofit/>
          </a:bodyPr>
          <a:lstStyle/>
          <a:p>
            <a:r>
              <a:rPr sz="1700" b="0">
                <a:solidFill>
                  <a:srgbClr val="EAF2FA"/>
                </a:solidFill>
                <a:latin typeface="Malgun Gothic"/>
              </a:rPr>
              <a:t>경찰서 엑셀 파일을 하나로 취합하는 프로그램을 직접 만듭니다.</a:t>
            </a:r>
          </a:p>
        </p:txBody>
      </p:sp>
      <p:sp>
        <p:nvSpPr>
          <p:cNvPr id="8" name="Rectangle 7"/>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과정</a:t>
            </a:r>
          </a:p>
        </p:txBody>
      </p:sp>
      <p:sp>
        <p:nvSpPr>
          <p:cNvPr id="10" name="TextBox 9"/>
          <p:cNvSpPr txBox="1"/>
          <p:nvPr/>
        </p:nvSpPr>
        <p:spPr>
          <a:xfrm>
            <a:off x="11201400" y="6556248"/>
            <a:ext cx="384048" cy="164592"/>
          </a:xfrm>
          <a:prstGeom prst="rect">
            <a:avLst/>
          </a:prstGeom>
          <a:noFill/>
        </p:spPr>
        <p:txBody>
          <a:bodyPr wrap="square" lIns="0" rIns="0" tIns="0" bIns="0">
            <a:normAutofit/>
          </a:bodyPr>
          <a:lstStyle/>
          <a:p>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PRACTICE GOAL</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오늘 만들 초급 프로그램</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폴더 안의 여러 xlsx 파일을 찾아 하나로 합칩니다.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4713612138788588837.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실습</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23</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폴더 선택 창을 띄운다</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선택한 폴더 안의 엑셀 파일을 자동으로 찾는다</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엑셀 파일을 하나씩 읽는다</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자료를 하나로 합친다</a:t>
            </a:r>
          </a:p>
        </p:txBody>
      </p:sp>
      <p:sp>
        <p:nvSpPr>
          <p:cNvPr id="18" name="TextBox 17"/>
          <p:cNvSpPr txBox="1"/>
          <p:nvPr/>
        </p:nvSpPr>
        <p:spPr>
          <a:xfrm>
            <a:off x="804672" y="3685032"/>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9" name="TextBox 18"/>
          <p:cNvSpPr txBox="1"/>
          <p:nvPr/>
        </p:nvSpPr>
        <p:spPr>
          <a:xfrm>
            <a:off x="1097280" y="3685032"/>
            <a:ext cx="5742431" cy="310896"/>
          </a:xfrm>
          <a:prstGeom prst="rect">
            <a:avLst/>
          </a:prstGeom>
          <a:noFill/>
        </p:spPr>
        <p:txBody>
          <a:bodyPr wrap="square" lIns="0" rIns="0" tIns="0" bIns="0">
            <a:normAutofit/>
          </a:bodyPr>
          <a:lstStyle/>
          <a:p>
            <a:r>
              <a:rPr sz="1450" b="0">
                <a:solidFill>
                  <a:srgbClr val="172033"/>
                </a:solidFill>
                <a:latin typeface="Malgun Gothic"/>
              </a:rPr>
              <a:t>결과 파일을 저장한다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PRACTICE DATA</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경찰서 제출 파일 예시</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실습은 3개 파일로 진행하지만, 같은 코드가 250개 파일에도 적용됩니다.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4713612138788588837.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실습자료</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24</a:t>
            </a:r>
          </a:p>
        </p:txBody>
      </p:sp>
      <p:sp>
        <p:nvSpPr>
          <p:cNvPr id="10" name="Rectangle 9"/>
          <p:cNvSpPr/>
          <p:nvPr/>
        </p:nvSpPr>
        <p:spPr>
          <a:xfrm>
            <a:off x="594360" y="1874519"/>
            <a:ext cx="182880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965960"/>
            <a:ext cx="1700784" cy="384047"/>
          </a:xfrm>
          <a:prstGeom prst="rect">
            <a:avLst/>
          </a:prstGeom>
          <a:noFill/>
        </p:spPr>
        <p:txBody>
          <a:bodyPr wrap="square" lIns="0" rIns="0" tIns="0" bIns="0" anchor="ctr">
            <a:normAutofit/>
          </a:bodyPr>
          <a:lstStyle/>
          <a:p>
            <a:pPr algn="ctr"/>
            <a:r>
              <a:rPr sz="1080" b="1">
                <a:solidFill>
                  <a:srgbClr val="FFFFFF"/>
                </a:solidFill>
                <a:latin typeface="Malgun Gothic"/>
              </a:rPr>
              <a:t>파일명</a:t>
            </a:r>
          </a:p>
        </p:txBody>
      </p:sp>
      <p:sp>
        <p:nvSpPr>
          <p:cNvPr id="12" name="Rectangle 11"/>
          <p:cNvSpPr/>
          <p:nvPr/>
        </p:nvSpPr>
        <p:spPr>
          <a:xfrm>
            <a:off x="2423160" y="1874519"/>
            <a:ext cx="96012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87168" y="1965960"/>
            <a:ext cx="832104" cy="384047"/>
          </a:xfrm>
          <a:prstGeom prst="rect">
            <a:avLst/>
          </a:prstGeom>
          <a:noFill/>
        </p:spPr>
        <p:txBody>
          <a:bodyPr wrap="square" lIns="0" rIns="0" tIns="0" bIns="0" anchor="ctr">
            <a:normAutofit/>
          </a:bodyPr>
          <a:lstStyle/>
          <a:p>
            <a:pPr algn="ctr"/>
            <a:r>
              <a:rPr sz="1080" b="1">
                <a:solidFill>
                  <a:srgbClr val="FFFFFF"/>
                </a:solidFill>
                <a:latin typeface="Malgun Gothic"/>
              </a:rPr>
              <a:t>기관명</a:t>
            </a:r>
          </a:p>
        </p:txBody>
      </p:sp>
      <p:sp>
        <p:nvSpPr>
          <p:cNvPr id="14" name="Rectangle 13"/>
          <p:cNvSpPr/>
          <p:nvPr/>
        </p:nvSpPr>
        <p:spPr>
          <a:xfrm>
            <a:off x="3383280" y="1874519"/>
            <a:ext cx="86868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965960"/>
            <a:ext cx="740664" cy="384047"/>
          </a:xfrm>
          <a:prstGeom prst="rect">
            <a:avLst/>
          </a:prstGeom>
          <a:noFill/>
        </p:spPr>
        <p:txBody>
          <a:bodyPr wrap="square" lIns="0" rIns="0" tIns="0" bIns="0" anchor="ctr">
            <a:normAutofit/>
          </a:bodyPr>
          <a:lstStyle/>
          <a:p>
            <a:pPr algn="ctr"/>
            <a:r>
              <a:rPr sz="1080" b="1">
                <a:solidFill>
                  <a:srgbClr val="FFFFFF"/>
                </a:solidFill>
                <a:latin typeface="Malgun Gothic"/>
              </a:rPr>
              <a:t>담당자</a:t>
            </a:r>
          </a:p>
        </p:txBody>
      </p:sp>
      <p:sp>
        <p:nvSpPr>
          <p:cNvPr id="16" name="Rectangle 15"/>
          <p:cNvSpPr/>
          <p:nvPr/>
        </p:nvSpPr>
        <p:spPr>
          <a:xfrm>
            <a:off x="4251960" y="1874519"/>
            <a:ext cx="96012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5968" y="1965960"/>
            <a:ext cx="832104" cy="384047"/>
          </a:xfrm>
          <a:prstGeom prst="rect">
            <a:avLst/>
          </a:prstGeom>
          <a:noFill/>
        </p:spPr>
        <p:txBody>
          <a:bodyPr wrap="square" lIns="0" rIns="0" tIns="0" bIns="0" anchor="ctr">
            <a:normAutofit/>
          </a:bodyPr>
          <a:lstStyle/>
          <a:p>
            <a:pPr algn="ctr"/>
            <a:r>
              <a:rPr sz="1080" b="1">
                <a:solidFill>
                  <a:srgbClr val="FFFFFF"/>
                </a:solidFill>
                <a:latin typeface="Malgun Gothic"/>
              </a:rPr>
              <a:t>점검결과</a:t>
            </a:r>
          </a:p>
        </p:txBody>
      </p:sp>
      <p:sp>
        <p:nvSpPr>
          <p:cNvPr id="18" name="Rectangle 17"/>
          <p:cNvSpPr/>
          <p:nvPr/>
        </p:nvSpPr>
        <p:spPr>
          <a:xfrm>
            <a:off x="5212080" y="1874519"/>
            <a:ext cx="114300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76088" y="1965960"/>
            <a:ext cx="1014983" cy="384047"/>
          </a:xfrm>
          <a:prstGeom prst="rect">
            <a:avLst/>
          </a:prstGeom>
          <a:noFill/>
        </p:spPr>
        <p:txBody>
          <a:bodyPr wrap="square" lIns="0" rIns="0" tIns="0" bIns="0" anchor="ctr">
            <a:normAutofit/>
          </a:bodyPr>
          <a:lstStyle/>
          <a:p>
            <a:pPr algn="ctr"/>
            <a:r>
              <a:rPr sz="1080" b="1">
                <a:solidFill>
                  <a:srgbClr val="FFFFFF"/>
                </a:solidFill>
                <a:latin typeface="Malgun Gothic"/>
              </a:rPr>
              <a:t>비고</a:t>
            </a:r>
          </a:p>
        </p:txBody>
      </p:sp>
      <p:sp>
        <p:nvSpPr>
          <p:cNvPr id="20" name="Rectangle 19"/>
          <p:cNvSpPr/>
          <p:nvPr/>
        </p:nvSpPr>
        <p:spPr>
          <a:xfrm>
            <a:off x="594360" y="2404872"/>
            <a:ext cx="18288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2496312"/>
            <a:ext cx="1700784" cy="384047"/>
          </a:xfrm>
          <a:prstGeom prst="rect">
            <a:avLst/>
          </a:prstGeom>
          <a:noFill/>
        </p:spPr>
        <p:txBody>
          <a:bodyPr wrap="square" lIns="0" rIns="0" tIns="0" bIns="0" anchor="ctr">
            <a:normAutofit/>
          </a:bodyPr>
          <a:lstStyle/>
          <a:p>
            <a:pPr algn="ctr"/>
            <a:r>
              <a:rPr sz="940" b="0">
                <a:solidFill>
                  <a:srgbClr val="172033"/>
                </a:solidFill>
                <a:latin typeface="Malgun Gothic"/>
              </a:rPr>
              <a:t>서울중부경찰서.xlsx</a:t>
            </a:r>
          </a:p>
        </p:txBody>
      </p:sp>
      <p:sp>
        <p:nvSpPr>
          <p:cNvPr id="22" name="Rectangle 21"/>
          <p:cNvSpPr/>
          <p:nvPr/>
        </p:nvSpPr>
        <p:spPr>
          <a:xfrm>
            <a:off x="2423160" y="2404872"/>
            <a:ext cx="96012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87168" y="2496312"/>
            <a:ext cx="832104" cy="384047"/>
          </a:xfrm>
          <a:prstGeom prst="rect">
            <a:avLst/>
          </a:prstGeom>
          <a:noFill/>
        </p:spPr>
        <p:txBody>
          <a:bodyPr wrap="square" lIns="0" rIns="0" tIns="0" bIns="0" anchor="ctr">
            <a:normAutofit/>
          </a:bodyPr>
          <a:lstStyle/>
          <a:p>
            <a:pPr algn="ctr"/>
            <a:r>
              <a:rPr sz="940" b="0">
                <a:solidFill>
                  <a:srgbClr val="172033"/>
                </a:solidFill>
                <a:latin typeface="Malgun Gothic"/>
              </a:rPr>
              <a:t>서울중부</a:t>
            </a:r>
          </a:p>
        </p:txBody>
      </p:sp>
      <p:sp>
        <p:nvSpPr>
          <p:cNvPr id="24" name="Rectangle 23"/>
          <p:cNvSpPr/>
          <p:nvPr/>
        </p:nvSpPr>
        <p:spPr>
          <a:xfrm>
            <a:off x="3383280" y="2404872"/>
            <a:ext cx="86868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47288" y="2496312"/>
            <a:ext cx="740664" cy="384047"/>
          </a:xfrm>
          <a:prstGeom prst="rect">
            <a:avLst/>
          </a:prstGeom>
          <a:noFill/>
        </p:spPr>
        <p:txBody>
          <a:bodyPr wrap="square" lIns="0" rIns="0" tIns="0" bIns="0" anchor="ctr">
            <a:normAutofit/>
          </a:bodyPr>
          <a:lstStyle/>
          <a:p>
            <a:pPr algn="ctr"/>
            <a:r>
              <a:rPr sz="940" b="0">
                <a:solidFill>
                  <a:srgbClr val="172033"/>
                </a:solidFill>
                <a:latin typeface="Malgun Gothic"/>
              </a:rPr>
              <a:t>김하나</a:t>
            </a:r>
          </a:p>
        </p:txBody>
      </p:sp>
      <p:sp>
        <p:nvSpPr>
          <p:cNvPr id="26" name="Rectangle 25"/>
          <p:cNvSpPr/>
          <p:nvPr/>
        </p:nvSpPr>
        <p:spPr>
          <a:xfrm>
            <a:off x="4251960" y="2404872"/>
            <a:ext cx="96012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15968" y="2496312"/>
            <a:ext cx="832104" cy="384047"/>
          </a:xfrm>
          <a:prstGeom prst="rect">
            <a:avLst/>
          </a:prstGeom>
          <a:noFill/>
        </p:spPr>
        <p:txBody>
          <a:bodyPr wrap="square" lIns="0" rIns="0" tIns="0" bIns="0" anchor="ctr">
            <a:normAutofit/>
          </a:bodyPr>
          <a:lstStyle/>
          <a:p>
            <a:pPr algn="ctr"/>
            <a:r>
              <a:rPr sz="940" b="0">
                <a:solidFill>
                  <a:srgbClr val="172033"/>
                </a:solidFill>
                <a:latin typeface="Malgun Gothic"/>
              </a:rPr>
              <a:t>적정</a:t>
            </a:r>
          </a:p>
        </p:txBody>
      </p:sp>
      <p:sp>
        <p:nvSpPr>
          <p:cNvPr id="28" name="Rectangle 27"/>
          <p:cNvSpPr/>
          <p:nvPr/>
        </p:nvSpPr>
        <p:spPr>
          <a:xfrm>
            <a:off x="5212080" y="2404872"/>
            <a:ext cx="11430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76088" y="2496312"/>
            <a:ext cx="1014983" cy="384047"/>
          </a:xfrm>
          <a:prstGeom prst="rect">
            <a:avLst/>
          </a:prstGeom>
          <a:noFill/>
        </p:spPr>
        <p:txBody>
          <a:bodyPr wrap="square" lIns="0" rIns="0" tIns="0" bIns="0" anchor="ctr">
            <a:normAutofit/>
          </a:bodyPr>
          <a:lstStyle/>
          <a:p>
            <a:pPr algn="ctr"/>
            <a:r>
              <a:rPr sz="940" b="0">
                <a:solidFill>
                  <a:srgbClr val="172033"/>
                </a:solidFill>
                <a:latin typeface="Malgun Gothic"/>
              </a:rPr>
              <a:t>제출완료</a:t>
            </a:r>
          </a:p>
        </p:txBody>
      </p:sp>
      <p:sp>
        <p:nvSpPr>
          <p:cNvPr id="30" name="Rectangle 29"/>
          <p:cNvSpPr/>
          <p:nvPr/>
        </p:nvSpPr>
        <p:spPr>
          <a:xfrm>
            <a:off x="594360" y="2935224"/>
            <a:ext cx="18288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3026664"/>
            <a:ext cx="1700784" cy="384047"/>
          </a:xfrm>
          <a:prstGeom prst="rect">
            <a:avLst/>
          </a:prstGeom>
          <a:noFill/>
        </p:spPr>
        <p:txBody>
          <a:bodyPr wrap="square" lIns="0" rIns="0" tIns="0" bIns="0" anchor="ctr">
            <a:normAutofit/>
          </a:bodyPr>
          <a:lstStyle/>
          <a:p>
            <a:pPr algn="ctr"/>
            <a:r>
              <a:rPr sz="940" b="0">
                <a:solidFill>
                  <a:srgbClr val="172033"/>
                </a:solidFill>
                <a:latin typeface="Malgun Gothic"/>
              </a:rPr>
              <a:t>부산중부경찰서.xlsx</a:t>
            </a:r>
          </a:p>
        </p:txBody>
      </p:sp>
      <p:sp>
        <p:nvSpPr>
          <p:cNvPr id="32" name="Rectangle 31"/>
          <p:cNvSpPr/>
          <p:nvPr/>
        </p:nvSpPr>
        <p:spPr>
          <a:xfrm>
            <a:off x="2423160" y="2935224"/>
            <a:ext cx="96012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87168" y="3026664"/>
            <a:ext cx="832104" cy="384047"/>
          </a:xfrm>
          <a:prstGeom prst="rect">
            <a:avLst/>
          </a:prstGeom>
          <a:noFill/>
        </p:spPr>
        <p:txBody>
          <a:bodyPr wrap="square" lIns="0" rIns="0" tIns="0" bIns="0" anchor="ctr">
            <a:normAutofit/>
          </a:bodyPr>
          <a:lstStyle/>
          <a:p>
            <a:pPr algn="ctr"/>
            <a:r>
              <a:rPr sz="940" b="0">
                <a:solidFill>
                  <a:srgbClr val="172033"/>
                </a:solidFill>
                <a:latin typeface="Malgun Gothic"/>
              </a:rPr>
              <a:t>부산중부</a:t>
            </a:r>
          </a:p>
        </p:txBody>
      </p:sp>
      <p:sp>
        <p:nvSpPr>
          <p:cNvPr id="34" name="Rectangle 33"/>
          <p:cNvSpPr/>
          <p:nvPr/>
        </p:nvSpPr>
        <p:spPr>
          <a:xfrm>
            <a:off x="3383280" y="2935224"/>
            <a:ext cx="86868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47288" y="3026664"/>
            <a:ext cx="740664" cy="384047"/>
          </a:xfrm>
          <a:prstGeom prst="rect">
            <a:avLst/>
          </a:prstGeom>
          <a:noFill/>
        </p:spPr>
        <p:txBody>
          <a:bodyPr wrap="square" lIns="0" rIns="0" tIns="0" bIns="0" anchor="ctr">
            <a:normAutofit/>
          </a:bodyPr>
          <a:lstStyle/>
          <a:p>
            <a:pPr algn="ctr"/>
            <a:r>
              <a:rPr sz="940" b="0">
                <a:solidFill>
                  <a:srgbClr val="172033"/>
                </a:solidFill>
                <a:latin typeface="Malgun Gothic"/>
              </a:rPr>
              <a:t>이세진</a:t>
            </a:r>
          </a:p>
        </p:txBody>
      </p:sp>
      <p:sp>
        <p:nvSpPr>
          <p:cNvPr id="36" name="Rectangle 35"/>
          <p:cNvSpPr/>
          <p:nvPr/>
        </p:nvSpPr>
        <p:spPr>
          <a:xfrm>
            <a:off x="4251960" y="2935224"/>
            <a:ext cx="96012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15968" y="3026664"/>
            <a:ext cx="832104" cy="384047"/>
          </a:xfrm>
          <a:prstGeom prst="rect">
            <a:avLst/>
          </a:prstGeom>
          <a:noFill/>
        </p:spPr>
        <p:txBody>
          <a:bodyPr wrap="square" lIns="0" rIns="0" tIns="0" bIns="0" anchor="ctr">
            <a:normAutofit/>
          </a:bodyPr>
          <a:lstStyle/>
          <a:p>
            <a:pPr algn="ctr"/>
            <a:r>
              <a:rPr sz="940" b="0">
                <a:solidFill>
                  <a:srgbClr val="172033"/>
                </a:solidFill>
                <a:latin typeface="Malgun Gothic"/>
              </a:rPr>
              <a:t>보완</a:t>
            </a:r>
          </a:p>
        </p:txBody>
      </p:sp>
      <p:sp>
        <p:nvSpPr>
          <p:cNvPr id="38" name="Rectangle 37"/>
          <p:cNvSpPr/>
          <p:nvPr/>
        </p:nvSpPr>
        <p:spPr>
          <a:xfrm>
            <a:off x="5212080" y="2935224"/>
            <a:ext cx="11430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76088" y="3026664"/>
            <a:ext cx="1014983" cy="384047"/>
          </a:xfrm>
          <a:prstGeom prst="rect">
            <a:avLst/>
          </a:prstGeom>
          <a:noFill/>
        </p:spPr>
        <p:txBody>
          <a:bodyPr wrap="square" lIns="0" rIns="0" tIns="0" bIns="0" anchor="ctr">
            <a:normAutofit/>
          </a:bodyPr>
          <a:lstStyle/>
          <a:p>
            <a:pPr algn="ctr"/>
            <a:r>
              <a:rPr sz="940" b="0">
                <a:solidFill>
                  <a:srgbClr val="172033"/>
                </a:solidFill>
                <a:latin typeface="Malgun Gothic"/>
              </a:rPr>
              <a:t>확인필요</a:t>
            </a:r>
          </a:p>
        </p:txBody>
      </p:sp>
      <p:sp>
        <p:nvSpPr>
          <p:cNvPr id="40" name="Rectangle 39"/>
          <p:cNvSpPr/>
          <p:nvPr/>
        </p:nvSpPr>
        <p:spPr>
          <a:xfrm>
            <a:off x="594360" y="3465575"/>
            <a:ext cx="18288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3557015"/>
            <a:ext cx="1700784" cy="384047"/>
          </a:xfrm>
          <a:prstGeom prst="rect">
            <a:avLst/>
          </a:prstGeom>
          <a:noFill/>
        </p:spPr>
        <p:txBody>
          <a:bodyPr wrap="square" lIns="0" rIns="0" tIns="0" bIns="0" anchor="ctr">
            <a:normAutofit/>
          </a:bodyPr>
          <a:lstStyle/>
          <a:p>
            <a:pPr algn="ctr"/>
            <a:r>
              <a:rPr sz="940" b="0">
                <a:solidFill>
                  <a:srgbClr val="172033"/>
                </a:solidFill>
                <a:latin typeface="Malgun Gothic"/>
              </a:rPr>
              <a:t>대구중부경찰서.xlsx</a:t>
            </a:r>
          </a:p>
        </p:txBody>
      </p:sp>
      <p:sp>
        <p:nvSpPr>
          <p:cNvPr id="42" name="Rectangle 41"/>
          <p:cNvSpPr/>
          <p:nvPr/>
        </p:nvSpPr>
        <p:spPr>
          <a:xfrm>
            <a:off x="2423160" y="3465575"/>
            <a:ext cx="96012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487168" y="3557015"/>
            <a:ext cx="832104" cy="384047"/>
          </a:xfrm>
          <a:prstGeom prst="rect">
            <a:avLst/>
          </a:prstGeom>
          <a:noFill/>
        </p:spPr>
        <p:txBody>
          <a:bodyPr wrap="square" lIns="0" rIns="0" tIns="0" bIns="0" anchor="ctr">
            <a:normAutofit/>
          </a:bodyPr>
          <a:lstStyle/>
          <a:p>
            <a:pPr algn="ctr"/>
            <a:r>
              <a:rPr sz="940" b="0">
                <a:solidFill>
                  <a:srgbClr val="172033"/>
                </a:solidFill>
                <a:latin typeface="Malgun Gothic"/>
              </a:rPr>
              <a:t>대구중부</a:t>
            </a:r>
          </a:p>
        </p:txBody>
      </p:sp>
      <p:sp>
        <p:nvSpPr>
          <p:cNvPr id="44" name="Rectangle 43"/>
          <p:cNvSpPr/>
          <p:nvPr/>
        </p:nvSpPr>
        <p:spPr>
          <a:xfrm>
            <a:off x="3383280" y="3465575"/>
            <a:ext cx="86868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47288" y="3557015"/>
            <a:ext cx="740664" cy="384047"/>
          </a:xfrm>
          <a:prstGeom prst="rect">
            <a:avLst/>
          </a:prstGeom>
          <a:noFill/>
        </p:spPr>
        <p:txBody>
          <a:bodyPr wrap="square" lIns="0" rIns="0" tIns="0" bIns="0" anchor="ctr">
            <a:normAutofit/>
          </a:bodyPr>
          <a:lstStyle/>
          <a:p>
            <a:pPr algn="ctr"/>
            <a:r>
              <a:rPr sz="940" b="0">
                <a:solidFill>
                  <a:srgbClr val="172033"/>
                </a:solidFill>
                <a:latin typeface="Malgun Gothic"/>
              </a:rPr>
              <a:t>정오름</a:t>
            </a:r>
          </a:p>
        </p:txBody>
      </p:sp>
      <p:sp>
        <p:nvSpPr>
          <p:cNvPr id="46" name="Rectangle 45"/>
          <p:cNvSpPr/>
          <p:nvPr/>
        </p:nvSpPr>
        <p:spPr>
          <a:xfrm>
            <a:off x="4251960" y="3465575"/>
            <a:ext cx="96012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15968" y="3557015"/>
            <a:ext cx="832104" cy="384047"/>
          </a:xfrm>
          <a:prstGeom prst="rect">
            <a:avLst/>
          </a:prstGeom>
          <a:noFill/>
        </p:spPr>
        <p:txBody>
          <a:bodyPr wrap="square" lIns="0" rIns="0" tIns="0" bIns="0" anchor="ctr">
            <a:normAutofit/>
          </a:bodyPr>
          <a:lstStyle/>
          <a:p>
            <a:pPr algn="ctr"/>
            <a:r>
              <a:rPr sz="940" b="0">
                <a:solidFill>
                  <a:srgbClr val="172033"/>
                </a:solidFill>
                <a:latin typeface="Malgun Gothic"/>
              </a:rPr>
              <a:t>적정</a:t>
            </a:r>
          </a:p>
        </p:txBody>
      </p:sp>
      <p:sp>
        <p:nvSpPr>
          <p:cNvPr id="48" name="Rectangle 47"/>
          <p:cNvSpPr/>
          <p:nvPr/>
        </p:nvSpPr>
        <p:spPr>
          <a:xfrm>
            <a:off x="5212080" y="3465575"/>
            <a:ext cx="11430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76088" y="3557015"/>
            <a:ext cx="1014983" cy="384047"/>
          </a:xfrm>
          <a:prstGeom prst="rect">
            <a:avLst/>
          </a:prstGeom>
          <a:noFill/>
        </p:spPr>
        <p:txBody>
          <a:bodyPr wrap="square" lIns="0" rIns="0" tIns="0" bIns="0" anchor="ctr">
            <a:normAutofit/>
          </a:bodyPr>
          <a:lstStyle/>
          <a:p>
            <a:pPr algn="ctr"/>
            <a:r>
              <a:rPr sz="940" b="0">
                <a:solidFill>
                  <a:srgbClr val="172033"/>
                </a:solidFill>
                <a:latin typeface="Malgun Gothic"/>
              </a:rPr>
              <a:t>제출완료</a:t>
            </a:r>
          </a:p>
        </p:txBody>
      </p:sp>
      <p:sp>
        <p:nvSpPr>
          <p:cNvPr id="50" name="Rounded Rectangle 49"/>
          <p:cNvSpPr/>
          <p:nvPr/>
        </p:nvSpPr>
        <p:spPr>
          <a:xfrm>
            <a:off x="658368" y="4983480"/>
            <a:ext cx="5943600" cy="658368"/>
          </a:xfrm>
          <a:prstGeom prst="roundRect">
            <a:avLst/>
          </a:prstGeom>
          <a:solidFill>
            <a:srgbClr val="FFF7E6"/>
          </a:solidFill>
          <a:ln w="10160">
            <a:solidFill>
              <a:srgbClr val="F0D7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59" y="5111496"/>
            <a:ext cx="5614416" cy="438912"/>
          </a:xfrm>
          <a:prstGeom prst="rect">
            <a:avLst/>
          </a:prstGeom>
          <a:noFill/>
        </p:spPr>
        <p:txBody>
          <a:bodyPr wrap="square" lIns="0" rIns="0" tIns="0" bIns="0">
            <a:normAutofit/>
          </a:bodyPr>
          <a:lstStyle/>
          <a:p>
            <a:r>
              <a:rPr sz="1220" b="0">
                <a:solidFill>
                  <a:srgbClr val="5A4217"/>
                </a:solidFill>
                <a:latin typeface="Malgun Gothic"/>
              </a:rPr>
              <a:t>자료가 많아도 형식이 같다면 자동화 대상입니다.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PROMPT</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ChatGPT에게 첫 요청하기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프롬프트</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25</a:t>
            </a:r>
          </a:p>
        </p:txBody>
      </p:sp>
      <p:sp>
        <p:nvSpPr>
          <p:cNvPr id="9" name="Rounded Rectangle 8"/>
          <p:cNvSpPr/>
          <p:nvPr/>
        </p:nvSpPr>
        <p:spPr>
          <a:xfrm>
            <a:off x="749808" y="1325880"/>
            <a:ext cx="6400800" cy="44348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35607"/>
            <a:ext cx="6108192" cy="4224527"/>
          </a:xfrm>
          <a:prstGeom prst="rect">
            <a:avLst/>
          </a:prstGeom>
          <a:noFill/>
        </p:spPr>
        <p:txBody>
          <a:bodyPr wrap="square" lIns="0" rIns="0" tIns="0" bIns="0">
            <a:normAutofit/>
          </a:bodyPr>
          <a:lstStyle/>
          <a:p>
            <a:r>
              <a:rPr sz="1170" b="0">
                <a:solidFill>
                  <a:srgbClr val="EEF4FA"/>
                </a:solidFill>
                <a:latin typeface="Consolas"/>
              </a:rPr>
              <a:t>형식이 동일한 경찰서 엑셀 파일 여러 개를 하나로 취합하는
파이썬 코드를 만들어줘.
조건
1. Windows에서 실행할 거야.
2. 폴더 선택 창을 띄워줘.
3. 선택한 폴더 안의 xlsx 파일을 모두 읽어줘.
4. 엑셀 임시 파일은 제외해줘.
5. 결과 파일은 merged_result.xlsx로 저장해줘.
6. 초보자도 이해할 수 있게 주석을 달아줘.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CODE 1/3</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폴더 선택 코드</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코드</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26</a:t>
            </a:r>
          </a:p>
        </p:txBody>
      </p:sp>
      <p:sp>
        <p:nvSpPr>
          <p:cNvPr id="9" name="Rounded Rectangle 8"/>
          <p:cNvSpPr/>
          <p:nvPr/>
        </p:nvSpPr>
        <p:spPr>
          <a:xfrm>
            <a:off x="713232" y="1234440"/>
            <a:ext cx="6629400" cy="46634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344168"/>
            <a:ext cx="6336792" cy="4453127"/>
          </a:xfrm>
          <a:prstGeom prst="rect">
            <a:avLst/>
          </a:prstGeom>
          <a:noFill/>
        </p:spPr>
        <p:txBody>
          <a:bodyPr wrap="square" lIns="0" rIns="0" tIns="0" bIns="0">
            <a:normAutofit/>
          </a:bodyPr>
          <a:lstStyle/>
          <a:p>
            <a:r>
              <a:rPr sz="1030" b="0">
                <a:solidFill>
                  <a:srgbClr val="EEF4FA"/>
                </a:solidFill>
                <a:latin typeface="Consolas"/>
              </a:rPr>
              <a:t>import os
import pandas as pd
from tkinter import Tk, filedialog
def select_folder():
    root = Tk()
    root.withdraw()
    folder_path = filedialog.askdirectory(
        title="취합할 엑셀 파일 폴더 선택"
    )
    return folder_path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CODE 2/3</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엑셀 파일 찾기와 읽기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코드</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27</a:t>
            </a:r>
          </a:p>
        </p:txBody>
      </p:sp>
      <p:sp>
        <p:nvSpPr>
          <p:cNvPr id="9" name="Rounded Rectangle 8"/>
          <p:cNvSpPr/>
          <p:nvPr/>
        </p:nvSpPr>
        <p:spPr>
          <a:xfrm>
            <a:off x="713232" y="1234440"/>
            <a:ext cx="6629400" cy="46634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344168"/>
            <a:ext cx="6336792" cy="4453127"/>
          </a:xfrm>
          <a:prstGeom prst="rect">
            <a:avLst/>
          </a:prstGeom>
          <a:noFill/>
        </p:spPr>
        <p:txBody>
          <a:bodyPr wrap="square" lIns="0" rIns="0" tIns="0" bIns="0">
            <a:normAutofit/>
          </a:bodyPr>
          <a:lstStyle/>
          <a:p>
            <a:r>
              <a:rPr sz="1030" b="0">
                <a:solidFill>
                  <a:srgbClr val="EEF4FA"/>
                </a:solidFill>
                <a:latin typeface="Consolas"/>
              </a:rPr>
              <a:t>def merge_excel_files(folder_path):
    excel_files = []
    for file_name in os.listdir(folder_path):
        if file_name.endswith(".xlsx") and not file_name.startswith("~$"):
            full_path = os.path.join(folder_path, file_name)
            excel_files.append(full_path)
    if not excel_files:
        print("선택한 폴더에 xlsx 파일이 없습니다.")
        return
    excel_files.sort()
    merged_data =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CODE 3/3</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합치고 저장하기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4713612138788588837.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코드</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28</a:t>
            </a:r>
          </a:p>
        </p:txBody>
      </p:sp>
      <p:sp>
        <p:nvSpPr>
          <p:cNvPr id="9" name="Rounded Rectangle 8"/>
          <p:cNvSpPr/>
          <p:nvPr/>
        </p:nvSpPr>
        <p:spPr>
          <a:xfrm>
            <a:off x="713232" y="1234440"/>
            <a:ext cx="6629400" cy="466344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344168"/>
            <a:ext cx="6336792" cy="4453127"/>
          </a:xfrm>
          <a:prstGeom prst="rect">
            <a:avLst/>
          </a:prstGeom>
          <a:noFill/>
        </p:spPr>
        <p:txBody>
          <a:bodyPr wrap="square" lIns="0" rIns="0" tIns="0" bIns="0">
            <a:normAutofit/>
          </a:bodyPr>
          <a:lstStyle/>
          <a:p>
            <a:r>
              <a:rPr sz="1030" b="0">
                <a:solidFill>
                  <a:srgbClr val="EEF4FA"/>
                </a:solidFill>
                <a:latin typeface="Consolas"/>
              </a:rPr>
              <a:t>for file_path in excel_files:
    print(f"읽는 중: {os.path.basename(file_path)}")
    data = pd.read_excel(file_path)
    data["원본파일명"] = os.path.basename(file_path)
    merged_data.append(data)
result = pd.concat(merged_data, ignore_index=True)
output_path = os.path.join(folder_path, "merged_result.xlsx")
result.to_excel(output_path, index=False)
print("취합이 완료되었습니다.")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RUN</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코드 실행하기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4713612138788588837.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실행</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29</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rPr sz="1450" b="0">
                <a:solidFill>
                  <a:srgbClr val="172033"/>
                </a:solidFill>
                <a:latin typeface="Malgun Gothic"/>
              </a:rPr>
              <a:t>터미널에서 python merge_excel.py 입력</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rPr sz="1450" b="0">
                <a:solidFill>
                  <a:srgbClr val="172033"/>
                </a:solidFill>
                <a:latin typeface="Malgun Gothic"/>
              </a:rPr>
              <a:t>폴더 선택 창에서 D:\vibe_excel\input 선택</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rPr sz="1450" b="0">
                <a:solidFill>
                  <a:srgbClr val="172033"/>
                </a:solidFill>
                <a:latin typeface="Malgun Gothic"/>
              </a:rPr>
              <a:t>input 폴더 안에 merged_result.xlsx 생성 확인</a:t>
            </a:r>
          </a:p>
        </p:txBody>
      </p:sp>
      <p:sp>
        <p:nvSpPr>
          <p:cNvPr id="15" name="TextBox 14"/>
          <p:cNvSpPr txBox="1"/>
          <p:nvPr/>
        </p:nvSpPr>
        <p:spPr>
          <a:xfrm>
            <a:off x="804672" y="293522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6" name="TextBox 15"/>
          <p:cNvSpPr txBox="1"/>
          <p:nvPr/>
        </p:nvSpPr>
        <p:spPr>
          <a:xfrm>
            <a:off x="1097280" y="2935224"/>
            <a:ext cx="5650992" cy="310896"/>
          </a:xfrm>
          <a:prstGeom prst="rect">
            <a:avLst/>
          </a:prstGeom>
          <a:noFill/>
        </p:spPr>
        <p:txBody>
          <a:bodyPr wrap="square" lIns="0" rIns="0" tIns="0" bIns="0">
            <a:normAutofit/>
          </a:bodyPr>
          <a:lstStyle/>
          <a:p>
            <a:r>
              <a:rPr sz="1450" b="0">
                <a:solidFill>
                  <a:srgbClr val="172033"/>
                </a:solidFill>
                <a:latin typeface="Malgun Gothic"/>
              </a:rPr>
              <a:t>엑셀을 열어 취합 결과 확인</a:t>
            </a:r>
          </a:p>
        </p:txBody>
      </p:sp>
      <p:sp>
        <p:nvSpPr>
          <p:cNvPr id="17" name="Rounded Rectangle 16"/>
          <p:cNvSpPr/>
          <p:nvPr/>
        </p:nvSpPr>
        <p:spPr>
          <a:xfrm>
            <a:off x="868680" y="4160520"/>
            <a:ext cx="5212080" cy="64008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4270248"/>
            <a:ext cx="4919472" cy="429768"/>
          </a:xfrm>
          <a:prstGeom prst="rect">
            <a:avLst/>
          </a:prstGeom>
          <a:noFill/>
        </p:spPr>
        <p:txBody>
          <a:bodyPr wrap="square" lIns="0" rIns="0" tIns="0" bIns="0">
            <a:normAutofit/>
          </a:bodyPr>
          <a:lstStyle/>
          <a:p>
            <a:r>
              <a:rPr sz="1800" b="0">
                <a:solidFill>
                  <a:srgbClr val="EEF4FA"/>
                </a:solidFill>
                <a:latin typeface="Consolas"/>
              </a:rPr>
              <a:t>python merge_excel.py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RESULT</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결과 확인하기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1452829355718277594.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결과 확인</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30</a:t>
            </a:r>
          </a:p>
        </p:txBody>
      </p:sp>
      <p:sp>
        <p:nvSpPr>
          <p:cNvPr id="9" name="Rectangle 8"/>
          <p:cNvSpPr/>
          <p:nvPr/>
        </p:nvSpPr>
        <p:spPr>
          <a:xfrm>
            <a:off x="594360" y="1627632"/>
            <a:ext cx="114300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719072"/>
            <a:ext cx="1014983" cy="384047"/>
          </a:xfrm>
          <a:prstGeom prst="rect">
            <a:avLst/>
          </a:prstGeom>
          <a:noFill/>
        </p:spPr>
        <p:txBody>
          <a:bodyPr wrap="square" lIns="0" rIns="0" tIns="0" bIns="0" anchor="ctr">
            <a:normAutofit/>
          </a:bodyPr>
          <a:lstStyle/>
          <a:p>
            <a:pPr algn="ctr"/>
            <a:r>
              <a:rPr sz="1080" b="1">
                <a:solidFill>
                  <a:srgbClr val="FFFFFF"/>
                </a:solidFill>
                <a:latin typeface="Malgun Gothic"/>
              </a:rPr>
              <a:t>기관명</a:t>
            </a:r>
          </a:p>
        </p:txBody>
      </p:sp>
      <p:sp>
        <p:nvSpPr>
          <p:cNvPr id="11" name="Rectangle 10"/>
          <p:cNvSpPr/>
          <p:nvPr/>
        </p:nvSpPr>
        <p:spPr>
          <a:xfrm>
            <a:off x="1737360" y="1627632"/>
            <a:ext cx="100584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01368" y="1719072"/>
            <a:ext cx="877824" cy="384047"/>
          </a:xfrm>
          <a:prstGeom prst="rect">
            <a:avLst/>
          </a:prstGeom>
          <a:noFill/>
        </p:spPr>
        <p:txBody>
          <a:bodyPr wrap="square" lIns="0" rIns="0" tIns="0" bIns="0" anchor="ctr">
            <a:normAutofit/>
          </a:bodyPr>
          <a:lstStyle/>
          <a:p>
            <a:pPr algn="ctr"/>
            <a:r>
              <a:rPr sz="1080" b="1">
                <a:solidFill>
                  <a:srgbClr val="FFFFFF"/>
                </a:solidFill>
                <a:latin typeface="Malgun Gothic"/>
              </a:rPr>
              <a:t>담당자</a:t>
            </a:r>
          </a:p>
        </p:txBody>
      </p:sp>
      <p:sp>
        <p:nvSpPr>
          <p:cNvPr id="13" name="Rectangle 12"/>
          <p:cNvSpPr/>
          <p:nvPr/>
        </p:nvSpPr>
        <p:spPr>
          <a:xfrm>
            <a:off x="2743200" y="1627632"/>
            <a:ext cx="105156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07208" y="1719072"/>
            <a:ext cx="923543" cy="384047"/>
          </a:xfrm>
          <a:prstGeom prst="rect">
            <a:avLst/>
          </a:prstGeom>
          <a:noFill/>
        </p:spPr>
        <p:txBody>
          <a:bodyPr wrap="square" lIns="0" rIns="0" tIns="0" bIns="0" anchor="ctr">
            <a:normAutofit/>
          </a:bodyPr>
          <a:lstStyle/>
          <a:p>
            <a:pPr algn="ctr"/>
            <a:r>
              <a:rPr sz="1080" b="1">
                <a:solidFill>
                  <a:srgbClr val="FFFFFF"/>
                </a:solidFill>
                <a:latin typeface="Malgun Gothic"/>
              </a:rPr>
              <a:t>점검결과</a:t>
            </a:r>
          </a:p>
        </p:txBody>
      </p:sp>
      <p:sp>
        <p:nvSpPr>
          <p:cNvPr id="15" name="Rectangle 14"/>
          <p:cNvSpPr/>
          <p:nvPr/>
        </p:nvSpPr>
        <p:spPr>
          <a:xfrm>
            <a:off x="3794760" y="1627632"/>
            <a:ext cx="109728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8768" y="1719072"/>
            <a:ext cx="969264" cy="384047"/>
          </a:xfrm>
          <a:prstGeom prst="rect">
            <a:avLst/>
          </a:prstGeom>
          <a:noFill/>
        </p:spPr>
        <p:txBody>
          <a:bodyPr wrap="square" lIns="0" rIns="0" tIns="0" bIns="0" anchor="ctr">
            <a:normAutofit/>
          </a:bodyPr>
          <a:lstStyle/>
          <a:p>
            <a:pPr algn="ctr"/>
            <a:r>
              <a:rPr sz="1080" b="1">
                <a:solidFill>
                  <a:srgbClr val="FFFFFF"/>
                </a:solidFill>
                <a:latin typeface="Malgun Gothic"/>
              </a:rPr>
              <a:t>비고</a:t>
            </a:r>
          </a:p>
        </p:txBody>
      </p:sp>
      <p:sp>
        <p:nvSpPr>
          <p:cNvPr id="17" name="Rectangle 16"/>
          <p:cNvSpPr/>
          <p:nvPr/>
        </p:nvSpPr>
        <p:spPr>
          <a:xfrm>
            <a:off x="4892040" y="1627632"/>
            <a:ext cx="2194560" cy="53035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56048" y="1719072"/>
            <a:ext cx="2066543" cy="384047"/>
          </a:xfrm>
          <a:prstGeom prst="rect">
            <a:avLst/>
          </a:prstGeom>
          <a:noFill/>
        </p:spPr>
        <p:txBody>
          <a:bodyPr wrap="square" lIns="0" rIns="0" tIns="0" bIns="0" anchor="ctr">
            <a:normAutofit/>
          </a:bodyPr>
          <a:lstStyle/>
          <a:p>
            <a:pPr algn="ctr"/>
            <a:r>
              <a:rPr sz="1080" b="1">
                <a:solidFill>
                  <a:srgbClr val="FFFFFF"/>
                </a:solidFill>
                <a:latin typeface="Malgun Gothic"/>
              </a:rPr>
              <a:t>원본파일명</a:t>
            </a:r>
          </a:p>
        </p:txBody>
      </p:sp>
      <p:sp>
        <p:nvSpPr>
          <p:cNvPr id="19" name="Rectangle 18"/>
          <p:cNvSpPr/>
          <p:nvPr/>
        </p:nvSpPr>
        <p:spPr>
          <a:xfrm>
            <a:off x="594360" y="2157984"/>
            <a:ext cx="11430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2249424"/>
            <a:ext cx="1014983" cy="384047"/>
          </a:xfrm>
          <a:prstGeom prst="rect">
            <a:avLst/>
          </a:prstGeom>
          <a:noFill/>
        </p:spPr>
        <p:txBody>
          <a:bodyPr wrap="square" lIns="0" rIns="0" tIns="0" bIns="0" anchor="ctr">
            <a:normAutofit/>
          </a:bodyPr>
          <a:lstStyle/>
          <a:p>
            <a:pPr algn="ctr"/>
            <a:r>
              <a:rPr sz="919" b="0">
                <a:solidFill>
                  <a:srgbClr val="172033"/>
                </a:solidFill>
                <a:latin typeface="Malgun Gothic"/>
              </a:rPr>
              <a:t>서울중부</a:t>
            </a:r>
          </a:p>
        </p:txBody>
      </p:sp>
      <p:sp>
        <p:nvSpPr>
          <p:cNvPr id="21" name="Rectangle 20"/>
          <p:cNvSpPr/>
          <p:nvPr/>
        </p:nvSpPr>
        <p:spPr>
          <a:xfrm>
            <a:off x="1737360" y="2157984"/>
            <a:ext cx="100584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01368" y="2249424"/>
            <a:ext cx="877824" cy="384047"/>
          </a:xfrm>
          <a:prstGeom prst="rect">
            <a:avLst/>
          </a:prstGeom>
          <a:noFill/>
        </p:spPr>
        <p:txBody>
          <a:bodyPr wrap="square" lIns="0" rIns="0" tIns="0" bIns="0" anchor="ctr">
            <a:normAutofit/>
          </a:bodyPr>
          <a:lstStyle/>
          <a:p>
            <a:pPr algn="ctr"/>
            <a:r>
              <a:rPr sz="919" b="0">
                <a:solidFill>
                  <a:srgbClr val="172033"/>
                </a:solidFill>
                <a:latin typeface="Malgun Gothic"/>
              </a:rPr>
              <a:t>김하나</a:t>
            </a:r>
          </a:p>
        </p:txBody>
      </p:sp>
      <p:sp>
        <p:nvSpPr>
          <p:cNvPr id="23" name="Rectangle 22"/>
          <p:cNvSpPr/>
          <p:nvPr/>
        </p:nvSpPr>
        <p:spPr>
          <a:xfrm>
            <a:off x="2743200" y="2157984"/>
            <a:ext cx="105156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07208" y="2249424"/>
            <a:ext cx="923543" cy="384047"/>
          </a:xfrm>
          <a:prstGeom prst="rect">
            <a:avLst/>
          </a:prstGeom>
          <a:noFill/>
        </p:spPr>
        <p:txBody>
          <a:bodyPr wrap="square" lIns="0" rIns="0" tIns="0" bIns="0" anchor="ctr">
            <a:normAutofit/>
          </a:bodyPr>
          <a:lstStyle/>
          <a:p>
            <a:pPr algn="ctr"/>
            <a:r>
              <a:rPr sz="919" b="0">
                <a:solidFill>
                  <a:srgbClr val="172033"/>
                </a:solidFill>
                <a:latin typeface="Malgun Gothic"/>
              </a:rPr>
              <a:t>적정</a:t>
            </a:r>
          </a:p>
        </p:txBody>
      </p:sp>
      <p:sp>
        <p:nvSpPr>
          <p:cNvPr id="25" name="Rectangle 24"/>
          <p:cNvSpPr/>
          <p:nvPr/>
        </p:nvSpPr>
        <p:spPr>
          <a:xfrm>
            <a:off x="3794760" y="2157984"/>
            <a:ext cx="109728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58768" y="2249424"/>
            <a:ext cx="969264" cy="384047"/>
          </a:xfrm>
          <a:prstGeom prst="rect">
            <a:avLst/>
          </a:prstGeom>
          <a:noFill/>
        </p:spPr>
        <p:txBody>
          <a:bodyPr wrap="square" lIns="0" rIns="0" tIns="0" bIns="0" anchor="ctr">
            <a:normAutofit/>
          </a:bodyPr>
          <a:lstStyle/>
          <a:p>
            <a:pPr algn="ctr"/>
            <a:r>
              <a:rPr sz="919" b="0">
                <a:solidFill>
                  <a:srgbClr val="172033"/>
                </a:solidFill>
                <a:latin typeface="Malgun Gothic"/>
              </a:rPr>
              <a:t>제출완료</a:t>
            </a:r>
          </a:p>
        </p:txBody>
      </p:sp>
      <p:sp>
        <p:nvSpPr>
          <p:cNvPr id="27" name="Rectangle 26"/>
          <p:cNvSpPr/>
          <p:nvPr/>
        </p:nvSpPr>
        <p:spPr>
          <a:xfrm>
            <a:off x="4892040" y="2157984"/>
            <a:ext cx="219456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56048" y="2249424"/>
            <a:ext cx="2066543" cy="384047"/>
          </a:xfrm>
          <a:prstGeom prst="rect">
            <a:avLst/>
          </a:prstGeom>
          <a:noFill/>
        </p:spPr>
        <p:txBody>
          <a:bodyPr wrap="square" lIns="0" rIns="0" tIns="0" bIns="0" anchor="ctr">
            <a:normAutofit/>
          </a:bodyPr>
          <a:lstStyle/>
          <a:p>
            <a:pPr algn="ctr"/>
            <a:r>
              <a:rPr sz="919" b="0">
                <a:solidFill>
                  <a:srgbClr val="172033"/>
                </a:solidFill>
                <a:latin typeface="Malgun Gothic"/>
              </a:rPr>
              <a:t>서울중부경찰서.xlsx</a:t>
            </a:r>
          </a:p>
        </p:txBody>
      </p:sp>
      <p:sp>
        <p:nvSpPr>
          <p:cNvPr id="29" name="Rectangle 28"/>
          <p:cNvSpPr/>
          <p:nvPr/>
        </p:nvSpPr>
        <p:spPr>
          <a:xfrm>
            <a:off x="594360" y="2688336"/>
            <a:ext cx="11430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2779776"/>
            <a:ext cx="1014983" cy="384047"/>
          </a:xfrm>
          <a:prstGeom prst="rect">
            <a:avLst/>
          </a:prstGeom>
          <a:noFill/>
        </p:spPr>
        <p:txBody>
          <a:bodyPr wrap="square" lIns="0" rIns="0" tIns="0" bIns="0" anchor="ctr">
            <a:normAutofit/>
          </a:bodyPr>
          <a:lstStyle/>
          <a:p>
            <a:pPr algn="ctr"/>
            <a:r>
              <a:rPr sz="919" b="0">
                <a:solidFill>
                  <a:srgbClr val="172033"/>
                </a:solidFill>
                <a:latin typeface="Malgun Gothic"/>
              </a:rPr>
              <a:t>부산중부</a:t>
            </a:r>
          </a:p>
        </p:txBody>
      </p:sp>
      <p:sp>
        <p:nvSpPr>
          <p:cNvPr id="31" name="Rectangle 30"/>
          <p:cNvSpPr/>
          <p:nvPr/>
        </p:nvSpPr>
        <p:spPr>
          <a:xfrm>
            <a:off x="1737360" y="2688336"/>
            <a:ext cx="100584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01368" y="2779776"/>
            <a:ext cx="877824" cy="384047"/>
          </a:xfrm>
          <a:prstGeom prst="rect">
            <a:avLst/>
          </a:prstGeom>
          <a:noFill/>
        </p:spPr>
        <p:txBody>
          <a:bodyPr wrap="square" lIns="0" rIns="0" tIns="0" bIns="0" anchor="ctr">
            <a:normAutofit/>
          </a:bodyPr>
          <a:lstStyle/>
          <a:p>
            <a:pPr algn="ctr"/>
            <a:r>
              <a:rPr sz="919" b="0">
                <a:solidFill>
                  <a:srgbClr val="172033"/>
                </a:solidFill>
                <a:latin typeface="Malgun Gothic"/>
              </a:rPr>
              <a:t>이세진</a:t>
            </a:r>
          </a:p>
        </p:txBody>
      </p:sp>
      <p:sp>
        <p:nvSpPr>
          <p:cNvPr id="33" name="Rectangle 32"/>
          <p:cNvSpPr/>
          <p:nvPr/>
        </p:nvSpPr>
        <p:spPr>
          <a:xfrm>
            <a:off x="2743200" y="2688336"/>
            <a:ext cx="105156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07208" y="2779776"/>
            <a:ext cx="923543" cy="384047"/>
          </a:xfrm>
          <a:prstGeom prst="rect">
            <a:avLst/>
          </a:prstGeom>
          <a:noFill/>
        </p:spPr>
        <p:txBody>
          <a:bodyPr wrap="square" lIns="0" rIns="0" tIns="0" bIns="0" anchor="ctr">
            <a:normAutofit/>
          </a:bodyPr>
          <a:lstStyle/>
          <a:p>
            <a:pPr algn="ctr"/>
            <a:r>
              <a:rPr sz="919" b="0">
                <a:solidFill>
                  <a:srgbClr val="172033"/>
                </a:solidFill>
                <a:latin typeface="Malgun Gothic"/>
              </a:rPr>
              <a:t>보완</a:t>
            </a:r>
          </a:p>
        </p:txBody>
      </p:sp>
      <p:sp>
        <p:nvSpPr>
          <p:cNvPr id="35" name="Rectangle 34"/>
          <p:cNvSpPr/>
          <p:nvPr/>
        </p:nvSpPr>
        <p:spPr>
          <a:xfrm>
            <a:off x="3794760" y="2688336"/>
            <a:ext cx="109728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58768" y="2779776"/>
            <a:ext cx="969264" cy="384047"/>
          </a:xfrm>
          <a:prstGeom prst="rect">
            <a:avLst/>
          </a:prstGeom>
          <a:noFill/>
        </p:spPr>
        <p:txBody>
          <a:bodyPr wrap="square" lIns="0" rIns="0" tIns="0" bIns="0" anchor="ctr">
            <a:normAutofit/>
          </a:bodyPr>
          <a:lstStyle/>
          <a:p>
            <a:pPr algn="ctr"/>
            <a:r>
              <a:rPr sz="919" b="0">
                <a:solidFill>
                  <a:srgbClr val="172033"/>
                </a:solidFill>
                <a:latin typeface="Malgun Gothic"/>
              </a:rPr>
              <a:t>확인필요</a:t>
            </a:r>
          </a:p>
        </p:txBody>
      </p:sp>
      <p:sp>
        <p:nvSpPr>
          <p:cNvPr id="37" name="Rectangle 36"/>
          <p:cNvSpPr/>
          <p:nvPr/>
        </p:nvSpPr>
        <p:spPr>
          <a:xfrm>
            <a:off x="4892040" y="2688336"/>
            <a:ext cx="219456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56048" y="2779776"/>
            <a:ext cx="2066543" cy="384047"/>
          </a:xfrm>
          <a:prstGeom prst="rect">
            <a:avLst/>
          </a:prstGeom>
          <a:noFill/>
        </p:spPr>
        <p:txBody>
          <a:bodyPr wrap="square" lIns="0" rIns="0" tIns="0" bIns="0" anchor="ctr">
            <a:normAutofit/>
          </a:bodyPr>
          <a:lstStyle/>
          <a:p>
            <a:pPr algn="ctr"/>
            <a:r>
              <a:rPr sz="919" b="0">
                <a:solidFill>
                  <a:srgbClr val="172033"/>
                </a:solidFill>
                <a:latin typeface="Malgun Gothic"/>
              </a:rPr>
              <a:t>부산중부경찰서.xlsx</a:t>
            </a:r>
          </a:p>
        </p:txBody>
      </p:sp>
      <p:sp>
        <p:nvSpPr>
          <p:cNvPr id="39" name="Rectangle 38"/>
          <p:cNvSpPr/>
          <p:nvPr/>
        </p:nvSpPr>
        <p:spPr>
          <a:xfrm>
            <a:off x="594360" y="3218687"/>
            <a:ext cx="114300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3310127"/>
            <a:ext cx="1014983" cy="384047"/>
          </a:xfrm>
          <a:prstGeom prst="rect">
            <a:avLst/>
          </a:prstGeom>
          <a:noFill/>
        </p:spPr>
        <p:txBody>
          <a:bodyPr wrap="square" lIns="0" rIns="0" tIns="0" bIns="0" anchor="ctr">
            <a:normAutofit/>
          </a:bodyPr>
          <a:lstStyle/>
          <a:p>
            <a:pPr algn="ctr"/>
            <a:r>
              <a:rPr sz="919" b="0">
                <a:solidFill>
                  <a:srgbClr val="172033"/>
                </a:solidFill>
                <a:latin typeface="Malgun Gothic"/>
              </a:rPr>
              <a:t>대구중부</a:t>
            </a:r>
          </a:p>
        </p:txBody>
      </p:sp>
      <p:sp>
        <p:nvSpPr>
          <p:cNvPr id="41" name="Rectangle 40"/>
          <p:cNvSpPr/>
          <p:nvPr/>
        </p:nvSpPr>
        <p:spPr>
          <a:xfrm>
            <a:off x="1737360" y="3218687"/>
            <a:ext cx="100584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801368" y="3310127"/>
            <a:ext cx="877824" cy="384047"/>
          </a:xfrm>
          <a:prstGeom prst="rect">
            <a:avLst/>
          </a:prstGeom>
          <a:noFill/>
        </p:spPr>
        <p:txBody>
          <a:bodyPr wrap="square" lIns="0" rIns="0" tIns="0" bIns="0" anchor="ctr">
            <a:normAutofit/>
          </a:bodyPr>
          <a:lstStyle/>
          <a:p>
            <a:pPr algn="ctr"/>
            <a:r>
              <a:rPr sz="919" b="0">
                <a:solidFill>
                  <a:srgbClr val="172033"/>
                </a:solidFill>
                <a:latin typeface="Malgun Gothic"/>
              </a:rPr>
              <a:t>정오름</a:t>
            </a:r>
          </a:p>
        </p:txBody>
      </p:sp>
      <p:sp>
        <p:nvSpPr>
          <p:cNvPr id="43" name="Rectangle 42"/>
          <p:cNvSpPr/>
          <p:nvPr/>
        </p:nvSpPr>
        <p:spPr>
          <a:xfrm>
            <a:off x="2743200" y="3218687"/>
            <a:ext cx="105156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07208" y="3310127"/>
            <a:ext cx="923543" cy="384047"/>
          </a:xfrm>
          <a:prstGeom prst="rect">
            <a:avLst/>
          </a:prstGeom>
          <a:noFill/>
        </p:spPr>
        <p:txBody>
          <a:bodyPr wrap="square" lIns="0" rIns="0" tIns="0" bIns="0" anchor="ctr">
            <a:normAutofit/>
          </a:bodyPr>
          <a:lstStyle/>
          <a:p>
            <a:pPr algn="ctr"/>
            <a:r>
              <a:rPr sz="919" b="0">
                <a:solidFill>
                  <a:srgbClr val="172033"/>
                </a:solidFill>
                <a:latin typeface="Malgun Gothic"/>
              </a:rPr>
              <a:t>적정</a:t>
            </a:r>
          </a:p>
        </p:txBody>
      </p:sp>
      <p:sp>
        <p:nvSpPr>
          <p:cNvPr id="45" name="Rectangle 44"/>
          <p:cNvSpPr/>
          <p:nvPr/>
        </p:nvSpPr>
        <p:spPr>
          <a:xfrm>
            <a:off x="3794760" y="3218687"/>
            <a:ext cx="109728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58768" y="3310127"/>
            <a:ext cx="969264" cy="384047"/>
          </a:xfrm>
          <a:prstGeom prst="rect">
            <a:avLst/>
          </a:prstGeom>
          <a:noFill/>
        </p:spPr>
        <p:txBody>
          <a:bodyPr wrap="square" lIns="0" rIns="0" tIns="0" bIns="0" anchor="ctr">
            <a:normAutofit/>
          </a:bodyPr>
          <a:lstStyle/>
          <a:p>
            <a:pPr algn="ctr"/>
            <a:r>
              <a:rPr sz="919" b="0">
                <a:solidFill>
                  <a:srgbClr val="172033"/>
                </a:solidFill>
                <a:latin typeface="Malgun Gothic"/>
              </a:rPr>
              <a:t>제출완료</a:t>
            </a:r>
          </a:p>
        </p:txBody>
      </p:sp>
      <p:sp>
        <p:nvSpPr>
          <p:cNvPr id="47" name="Rectangle 46"/>
          <p:cNvSpPr/>
          <p:nvPr/>
        </p:nvSpPr>
        <p:spPr>
          <a:xfrm>
            <a:off x="4892040" y="3218687"/>
            <a:ext cx="2194560" cy="53035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956048" y="3310127"/>
            <a:ext cx="2066543" cy="384047"/>
          </a:xfrm>
          <a:prstGeom prst="rect">
            <a:avLst/>
          </a:prstGeom>
          <a:noFill/>
        </p:spPr>
        <p:txBody>
          <a:bodyPr wrap="square" lIns="0" rIns="0" tIns="0" bIns="0" anchor="ctr">
            <a:normAutofit/>
          </a:bodyPr>
          <a:lstStyle/>
          <a:p>
            <a:pPr algn="ctr"/>
            <a:r>
              <a:rPr sz="919" b="0">
                <a:solidFill>
                  <a:srgbClr val="172033"/>
                </a:solidFill>
                <a:latin typeface="Malgun Gothic"/>
              </a:rPr>
              <a:t>대구중부경찰서.xlsx</a:t>
            </a:r>
          </a:p>
        </p:txBody>
      </p:sp>
      <p:sp>
        <p:nvSpPr>
          <p:cNvPr id="49" name="Rounded Rectangle 48"/>
          <p:cNvSpPr/>
          <p:nvPr/>
        </p:nvSpPr>
        <p:spPr>
          <a:xfrm>
            <a:off x="713232" y="4709160"/>
            <a:ext cx="5760720" cy="640080"/>
          </a:xfrm>
          <a:prstGeom prst="roundRect">
            <a:avLst/>
          </a:prstGeom>
          <a:solidFill>
            <a:srgbClr val="FFF7E6"/>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7824" y="4818888"/>
            <a:ext cx="5431536" cy="438912"/>
          </a:xfrm>
          <a:prstGeom prst="rect">
            <a:avLst/>
          </a:prstGeom>
          <a:noFill/>
        </p:spPr>
        <p:txBody>
          <a:bodyPr wrap="square" lIns="0" rIns="0" tIns="0" bIns="0">
            <a:normAutofit/>
          </a:bodyPr>
          <a:lstStyle/>
          <a:p>
            <a:r>
              <a:rPr sz="1400" b="1">
                <a:solidFill>
                  <a:srgbClr val="092642"/>
                </a:solidFill>
                <a:latin typeface="Malgun Gothic"/>
              </a:rPr>
              <a:t>250개 파일을 하나씩 여는 작업이 버튼 한 번으로 바뀝니다.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ERROR 01</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오류 해결: pandas가 없다고 나올 때</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오류 해결</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31</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rPr sz="1450" b="0">
                <a:solidFill>
                  <a:srgbClr val="172033"/>
                </a:solidFill>
                <a:latin typeface="Malgun Gothic"/>
              </a:rPr>
              <a:t>원인: pandas가 설치되어 있지 않음</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rPr sz="1450" b="0">
                <a:solidFill>
                  <a:srgbClr val="172033"/>
                </a:solidFill>
                <a:latin typeface="Malgun Gothic"/>
              </a:rPr>
              <a:t>해결: pip install pandas openpyxl 실행</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rPr sz="1450" b="0">
                <a:solidFill>
                  <a:srgbClr val="172033"/>
                </a:solidFill>
                <a:latin typeface="Malgun Gothic"/>
              </a:rPr>
              <a:t>설치 후 다시 python merge_excel.py 실행</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ERROR 02</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오류 해결: 저장이 안 될 때</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오류 해결</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32</a:t>
            </a:r>
          </a:p>
        </p:txBody>
      </p:sp>
      <p:sp>
        <p:nvSpPr>
          <p:cNvPr id="9" name="TextBox 8"/>
          <p:cNvSpPr txBox="1"/>
          <p:nvPr/>
        </p:nvSpPr>
        <p:spPr>
          <a:xfrm>
            <a:off x="804672" y="150876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0" name="TextBox 9"/>
          <p:cNvSpPr txBox="1"/>
          <p:nvPr/>
        </p:nvSpPr>
        <p:spPr>
          <a:xfrm>
            <a:off x="1097280" y="1508760"/>
            <a:ext cx="5650992" cy="310896"/>
          </a:xfrm>
          <a:prstGeom prst="rect">
            <a:avLst/>
          </a:prstGeom>
          <a:noFill/>
        </p:spPr>
        <p:txBody>
          <a:bodyPr wrap="square" lIns="0" rIns="0" tIns="0" bIns="0">
            <a:normAutofit/>
          </a:bodyPr>
          <a:lstStyle/>
          <a:p>
            <a:r>
              <a:rPr sz="1450" b="0">
                <a:solidFill>
                  <a:srgbClr val="172033"/>
                </a:solidFill>
                <a:latin typeface="Malgun Gothic"/>
              </a:rPr>
              <a:t>증상: 결과 파일이 저장되지 않거나 권한 오류 발생</a:t>
            </a:r>
          </a:p>
        </p:txBody>
      </p:sp>
      <p:sp>
        <p:nvSpPr>
          <p:cNvPr id="11" name="TextBox 10"/>
          <p:cNvSpPr txBox="1"/>
          <p:nvPr/>
        </p:nvSpPr>
        <p:spPr>
          <a:xfrm>
            <a:off x="804672" y="198424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2" name="TextBox 11"/>
          <p:cNvSpPr txBox="1"/>
          <p:nvPr/>
        </p:nvSpPr>
        <p:spPr>
          <a:xfrm>
            <a:off x="1097280" y="1984248"/>
            <a:ext cx="5650992" cy="310896"/>
          </a:xfrm>
          <a:prstGeom prst="rect">
            <a:avLst/>
          </a:prstGeom>
          <a:noFill/>
        </p:spPr>
        <p:txBody>
          <a:bodyPr wrap="square" lIns="0" rIns="0" tIns="0" bIns="0">
            <a:normAutofit/>
          </a:bodyPr>
          <a:lstStyle/>
          <a:p>
            <a:r>
              <a:rPr sz="1450" b="0">
                <a:solidFill>
                  <a:srgbClr val="172033"/>
                </a:solidFill>
                <a:latin typeface="Malgun Gothic"/>
              </a:rPr>
              <a:t>원인: merged_result.xlsx 파일이 이미 열려 있음</a:t>
            </a:r>
          </a:p>
        </p:txBody>
      </p:sp>
      <p:sp>
        <p:nvSpPr>
          <p:cNvPr id="13" name="TextBox 12"/>
          <p:cNvSpPr txBox="1"/>
          <p:nvPr/>
        </p:nvSpPr>
        <p:spPr>
          <a:xfrm>
            <a:off x="804672" y="245973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4" name="TextBox 13"/>
          <p:cNvSpPr txBox="1"/>
          <p:nvPr/>
        </p:nvSpPr>
        <p:spPr>
          <a:xfrm>
            <a:off x="1097280" y="2459736"/>
            <a:ext cx="5650992" cy="310896"/>
          </a:xfrm>
          <a:prstGeom prst="rect">
            <a:avLst/>
          </a:prstGeom>
          <a:noFill/>
        </p:spPr>
        <p:txBody>
          <a:bodyPr wrap="square" lIns="0" rIns="0" tIns="0" bIns="0">
            <a:normAutofit/>
          </a:bodyPr>
          <a:lstStyle/>
          <a:p>
            <a:r>
              <a:rPr sz="1450" b="0">
                <a:solidFill>
                  <a:srgbClr val="172033"/>
                </a:solidFill>
                <a:latin typeface="Malgun Gothic"/>
              </a:rPr>
              <a:t>해결: 엑셀에서 결과 파일을 닫고 다시 실행</a:t>
            </a:r>
          </a:p>
        </p:txBody>
      </p:sp>
      <p:sp>
        <p:nvSpPr>
          <p:cNvPr id="15" name="TextBox 14"/>
          <p:cNvSpPr txBox="1"/>
          <p:nvPr/>
        </p:nvSpPr>
        <p:spPr>
          <a:xfrm>
            <a:off x="804672" y="293522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6" name="TextBox 15"/>
          <p:cNvSpPr txBox="1"/>
          <p:nvPr/>
        </p:nvSpPr>
        <p:spPr>
          <a:xfrm>
            <a:off x="1097280" y="2935224"/>
            <a:ext cx="5650992" cy="310896"/>
          </a:xfrm>
          <a:prstGeom prst="rect">
            <a:avLst/>
          </a:prstGeom>
          <a:noFill/>
        </p:spPr>
        <p:txBody>
          <a:bodyPr wrap="square" lIns="0" rIns="0" tIns="0" bIns="0">
            <a:normAutofit/>
          </a:bodyPr>
          <a:lstStyle/>
          <a:p>
            <a:r>
              <a:rPr sz="1450" b="0">
                <a:solidFill>
                  <a:srgbClr val="172033"/>
                </a:solidFill>
                <a:latin typeface="Malgun Gothic"/>
              </a:rPr>
              <a:t>파일 이름을 바꾸거나 output 폴더에 저장하도록 수정 가능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ERROR 03</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오류 해결: 임시 파일 제외</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엑셀 파일을 열어 놓으면 ~$로 시작하는 임시 파일이 생길 수 있습니다.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오류 해결</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33</a:t>
            </a:r>
          </a:p>
        </p:txBody>
      </p:sp>
      <p:sp>
        <p:nvSpPr>
          <p:cNvPr id="10" name="Rounded Rectangle 9"/>
          <p:cNvSpPr/>
          <p:nvPr/>
        </p:nvSpPr>
        <p:spPr>
          <a:xfrm>
            <a:off x="804672" y="2148840"/>
            <a:ext cx="5943600" cy="150876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2258568"/>
            <a:ext cx="5650992" cy="1298448"/>
          </a:xfrm>
          <a:prstGeom prst="rect">
            <a:avLst/>
          </a:prstGeom>
          <a:noFill/>
        </p:spPr>
        <p:txBody>
          <a:bodyPr wrap="square" lIns="0" rIns="0" tIns="0" bIns="0">
            <a:normAutofit/>
          </a:bodyPr>
          <a:lstStyle/>
          <a:p>
            <a:r>
              <a:rPr sz="1350" b="0">
                <a:solidFill>
                  <a:srgbClr val="EEF4FA"/>
                </a:solidFill>
                <a:latin typeface="Consolas"/>
              </a:rPr>
              <a:t>if file_name.endswith(".xlsx") and not file_name.startswith("~$"):
    full_path = os.path.join(folder_path, file_name)
    excel_files.append(full_path)</a:t>
            </a:r>
          </a:p>
        </p:txBody>
      </p:sp>
      <p:sp>
        <p:nvSpPr>
          <p:cNvPr id="12" name="Rounded Rectangle 11"/>
          <p:cNvSpPr/>
          <p:nvPr/>
        </p:nvSpPr>
        <p:spPr>
          <a:xfrm>
            <a:off x="804672" y="4160520"/>
            <a:ext cx="5943600" cy="640080"/>
          </a:xfrm>
          <a:prstGeom prst="roundRect">
            <a:avLst/>
          </a:prstGeom>
          <a:solidFill>
            <a:srgbClr val="FFF7E6"/>
          </a:solidFill>
          <a:ln w="10160">
            <a:solidFill>
              <a:srgbClr val="F0D7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4288536"/>
            <a:ext cx="5614416" cy="420623"/>
          </a:xfrm>
          <a:prstGeom prst="rect">
            <a:avLst/>
          </a:prstGeom>
          <a:noFill/>
        </p:spPr>
        <p:txBody>
          <a:bodyPr wrap="square" lIns="0" rIns="0" tIns="0" bIns="0">
            <a:normAutofit/>
          </a:bodyPr>
          <a:lstStyle/>
          <a:p>
            <a:r>
              <a:rPr sz="1220" b="0">
                <a:solidFill>
                  <a:srgbClr val="5A4217"/>
                </a:solidFill>
                <a:latin typeface="Malgun Gothic"/>
              </a:rPr>
              <a:t>~$A기관.xlsx는 실제 자료 파일이 아니므로 읽지 않도록 제외합니다.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CHANGE 01</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요구사항 변경: 특정 열만 취합</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기능 개선</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34</a:t>
            </a:r>
          </a:p>
        </p:txBody>
      </p:sp>
      <p:sp>
        <p:nvSpPr>
          <p:cNvPr id="9" name="Rounded Rectangle 8"/>
          <p:cNvSpPr/>
          <p:nvPr/>
        </p:nvSpPr>
        <p:spPr>
          <a:xfrm>
            <a:off x="804672" y="1508760"/>
            <a:ext cx="5943600" cy="640080"/>
          </a:xfrm>
          <a:prstGeom prst="roundRect">
            <a:avLst/>
          </a:prstGeom>
          <a:solidFill>
            <a:srgbClr val="F7F9FC"/>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618488"/>
            <a:ext cx="5614416" cy="438912"/>
          </a:xfrm>
          <a:prstGeom prst="rect">
            <a:avLst/>
          </a:prstGeom>
          <a:noFill/>
        </p:spPr>
        <p:txBody>
          <a:bodyPr wrap="square" lIns="0" rIns="0" tIns="0" bIns="0">
            <a:normAutofit/>
          </a:bodyPr>
          <a:lstStyle/>
          <a:p>
            <a:r>
              <a:rPr sz="1400" b="1">
                <a:solidFill>
                  <a:srgbClr val="092642"/>
                </a:solidFill>
                <a:latin typeface="Malgun Gothic"/>
              </a:rPr>
              <a:t>“기관명, 점검결과, 비고 열만 취합해 주세요.”</a:t>
            </a:r>
          </a:p>
        </p:txBody>
      </p:sp>
      <p:sp>
        <p:nvSpPr>
          <p:cNvPr id="11" name="Rounded Rectangle 10"/>
          <p:cNvSpPr/>
          <p:nvPr/>
        </p:nvSpPr>
        <p:spPr>
          <a:xfrm>
            <a:off x="804672" y="2514600"/>
            <a:ext cx="5943600" cy="242316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624328"/>
            <a:ext cx="5650992" cy="2212848"/>
          </a:xfrm>
          <a:prstGeom prst="rect">
            <a:avLst/>
          </a:prstGeom>
          <a:noFill/>
        </p:spPr>
        <p:txBody>
          <a:bodyPr wrap="square" lIns="0" rIns="0" tIns="0" bIns="0">
            <a:normAutofit/>
          </a:bodyPr>
          <a:lstStyle/>
          <a:p>
            <a:r>
              <a:rPr sz="1150" b="0">
                <a:solidFill>
                  <a:srgbClr val="EEF4FA"/>
                </a:solidFill>
                <a:latin typeface="Consolas"/>
              </a:rPr>
              <a:t>required_columns = ["기관명", "점검결과", "비고"]
missing = [c for c in required_columns if c not in data.columns]
if missing:
    print("없는 열:", missing)
    continue
data = data[required_columns]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CHANGE 02</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요구사항 변경: 원본파일명 추가</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기능 개선</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35</a:t>
            </a:r>
          </a:p>
        </p:txBody>
      </p:sp>
      <p:sp>
        <p:nvSpPr>
          <p:cNvPr id="9" name="Rounded Rectangle 8"/>
          <p:cNvSpPr/>
          <p:nvPr/>
        </p:nvSpPr>
        <p:spPr>
          <a:xfrm>
            <a:off x="804672" y="1508760"/>
            <a:ext cx="5943600" cy="640080"/>
          </a:xfrm>
          <a:prstGeom prst="roundRect">
            <a:avLst/>
          </a:prstGeom>
          <a:solidFill>
            <a:srgbClr val="F7F9FC"/>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618488"/>
            <a:ext cx="5614416" cy="438912"/>
          </a:xfrm>
          <a:prstGeom prst="rect">
            <a:avLst/>
          </a:prstGeom>
          <a:noFill/>
        </p:spPr>
        <p:txBody>
          <a:bodyPr wrap="square" lIns="0" rIns="0" tIns="0" bIns="0">
            <a:normAutofit/>
          </a:bodyPr>
          <a:lstStyle/>
          <a:p>
            <a:r>
              <a:rPr sz="1400" b="1">
                <a:solidFill>
                  <a:srgbClr val="092642"/>
                </a:solidFill>
                <a:latin typeface="Malgun Gothic"/>
              </a:rPr>
              <a:t>“나중에 어느 파일에서 온 자료인지 알아야 합니다.”</a:t>
            </a:r>
          </a:p>
        </p:txBody>
      </p:sp>
      <p:sp>
        <p:nvSpPr>
          <p:cNvPr id="11" name="Rounded Rectangle 10"/>
          <p:cNvSpPr/>
          <p:nvPr/>
        </p:nvSpPr>
        <p:spPr>
          <a:xfrm>
            <a:off x="804672" y="2514600"/>
            <a:ext cx="5943600" cy="82296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624328"/>
            <a:ext cx="5650992" cy="612648"/>
          </a:xfrm>
          <a:prstGeom prst="rect">
            <a:avLst/>
          </a:prstGeom>
          <a:noFill/>
        </p:spPr>
        <p:txBody>
          <a:bodyPr wrap="square" lIns="0" rIns="0" tIns="0" bIns="0">
            <a:normAutofit/>
          </a:bodyPr>
          <a:lstStyle/>
          <a:p>
            <a:r>
              <a:rPr sz="1500" b="0">
                <a:solidFill>
                  <a:srgbClr val="EEF4FA"/>
                </a:solidFill>
                <a:latin typeface="Consolas"/>
              </a:rPr>
              <a:t>data["원본파일명"] = os.path.basename(file_path)</a:t>
            </a:r>
          </a:p>
        </p:txBody>
      </p:sp>
      <p:sp>
        <p:nvSpPr>
          <p:cNvPr id="13" name="Rounded Rectangle 12"/>
          <p:cNvSpPr/>
          <p:nvPr/>
        </p:nvSpPr>
        <p:spPr>
          <a:xfrm>
            <a:off x="804672" y="3977639"/>
            <a:ext cx="5943600" cy="713232"/>
          </a:xfrm>
          <a:prstGeom prst="roundRect">
            <a:avLst/>
          </a:prstGeom>
          <a:solidFill>
            <a:srgbClr val="FFF7E6"/>
          </a:solidFill>
          <a:ln w="10160">
            <a:solidFill>
              <a:srgbClr val="F0D7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105655"/>
            <a:ext cx="5614416" cy="493776"/>
          </a:xfrm>
          <a:prstGeom prst="rect">
            <a:avLst/>
          </a:prstGeom>
          <a:noFill/>
        </p:spPr>
        <p:txBody>
          <a:bodyPr wrap="square" lIns="0" rIns="0" tIns="0" bIns="0">
            <a:normAutofit/>
          </a:bodyPr>
          <a:lstStyle/>
          <a:p>
            <a:r>
              <a:rPr sz="1220" b="0">
                <a:solidFill>
                  <a:srgbClr val="5A4217"/>
                </a:solidFill>
                <a:latin typeface="Malgun Gothic"/>
              </a:rPr>
              <a:t>원본파일명 열을 넣으면 나중에 오류 자료를 찾거나 기관별 문의를 할 때 유용합니다.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WRAP-UP</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초급 과정 정리</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1452829355718277594.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초급: 정리</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36</a:t>
            </a:r>
          </a:p>
        </p:txBody>
      </p:sp>
      <p:sp>
        <p:nvSpPr>
          <p:cNvPr id="9" name="Rounded Rectangle 8"/>
          <p:cNvSpPr/>
          <p:nvPr/>
        </p:nvSpPr>
        <p:spPr>
          <a:xfrm>
            <a:off x="804672" y="146304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572768"/>
            <a:ext cx="256032" cy="164592"/>
          </a:xfrm>
          <a:prstGeom prst="rect">
            <a:avLst/>
          </a:prstGeom>
          <a:noFill/>
        </p:spPr>
        <p:txBody>
          <a:bodyPr wrap="square" lIns="0" rIns="0" tIns="0" bIns="0">
            <a:normAutofit/>
          </a:bodyPr>
          <a:lstStyle/>
          <a:p>
            <a:r>
              <a:rPr sz="1100" b="1">
                <a:solidFill>
                  <a:srgbClr val="D8A94A"/>
                </a:solidFill>
                <a:latin typeface="Malgun Gothic"/>
              </a:rPr>
              <a:t>1</a:t>
            </a:r>
          </a:p>
        </p:txBody>
      </p:sp>
      <p:sp>
        <p:nvSpPr>
          <p:cNvPr id="11" name="TextBox 10"/>
          <p:cNvSpPr txBox="1"/>
          <p:nvPr/>
        </p:nvSpPr>
        <p:spPr>
          <a:xfrm>
            <a:off x="1280160" y="1572768"/>
            <a:ext cx="5422392" cy="164592"/>
          </a:xfrm>
          <a:prstGeom prst="rect">
            <a:avLst/>
          </a:prstGeom>
          <a:noFill/>
        </p:spPr>
        <p:txBody>
          <a:bodyPr wrap="square" lIns="0" rIns="0" tIns="0" bIns="0">
            <a:normAutofit/>
          </a:bodyPr>
          <a:lstStyle/>
          <a:p>
            <a:r>
              <a:rPr sz="1150" b="1">
                <a:solidFill>
                  <a:srgbClr val="092642"/>
                </a:solidFill>
                <a:latin typeface="Malgun Gothic"/>
              </a:rPr>
              <a:t>개발환경을 단순하게 세팅했다</a:t>
            </a:r>
          </a:p>
        </p:txBody>
      </p:sp>
      <p:sp>
        <p:nvSpPr>
          <p:cNvPr id="12" name="Rounded Rectangle 11"/>
          <p:cNvSpPr/>
          <p:nvPr/>
        </p:nvSpPr>
        <p:spPr>
          <a:xfrm>
            <a:off x="804672" y="2121408"/>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231136"/>
            <a:ext cx="256032" cy="164592"/>
          </a:xfrm>
          <a:prstGeom prst="rect">
            <a:avLst/>
          </a:prstGeom>
          <a:noFill/>
        </p:spPr>
        <p:txBody>
          <a:bodyPr wrap="square" lIns="0" rIns="0" tIns="0" bIns="0">
            <a:normAutofit/>
          </a:bodyPr>
          <a:lstStyle/>
          <a:p>
            <a:r>
              <a:rPr sz="1100" b="1">
                <a:solidFill>
                  <a:srgbClr val="D8A94A"/>
                </a:solidFill>
                <a:latin typeface="Malgun Gothic"/>
              </a:rPr>
              <a:t>2</a:t>
            </a:r>
          </a:p>
        </p:txBody>
      </p:sp>
      <p:sp>
        <p:nvSpPr>
          <p:cNvPr id="14" name="TextBox 13"/>
          <p:cNvSpPr txBox="1"/>
          <p:nvPr/>
        </p:nvSpPr>
        <p:spPr>
          <a:xfrm>
            <a:off x="1280160" y="2231136"/>
            <a:ext cx="5422392" cy="164592"/>
          </a:xfrm>
          <a:prstGeom prst="rect">
            <a:avLst/>
          </a:prstGeom>
          <a:noFill/>
        </p:spPr>
        <p:txBody>
          <a:bodyPr wrap="square" lIns="0" rIns="0" tIns="0" bIns="0">
            <a:normAutofit/>
          </a:bodyPr>
          <a:lstStyle/>
          <a:p>
            <a:r>
              <a:rPr sz="1150" b="1">
                <a:solidFill>
                  <a:srgbClr val="092642"/>
                </a:solidFill>
                <a:latin typeface="Malgun Gothic"/>
              </a:rPr>
              <a:t>경찰서 엑셀 파일을 하나로 취합했다</a:t>
            </a:r>
          </a:p>
        </p:txBody>
      </p:sp>
      <p:sp>
        <p:nvSpPr>
          <p:cNvPr id="15" name="Rounded Rectangle 14"/>
          <p:cNvSpPr/>
          <p:nvPr/>
        </p:nvSpPr>
        <p:spPr>
          <a:xfrm>
            <a:off x="804672" y="2779776"/>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889504"/>
            <a:ext cx="256032" cy="164592"/>
          </a:xfrm>
          <a:prstGeom prst="rect">
            <a:avLst/>
          </a:prstGeom>
          <a:noFill/>
        </p:spPr>
        <p:txBody>
          <a:bodyPr wrap="square" lIns="0" rIns="0" tIns="0" bIns="0">
            <a:normAutofit/>
          </a:bodyPr>
          <a:lstStyle/>
          <a:p>
            <a:r>
              <a:rPr sz="1100" b="1">
                <a:solidFill>
                  <a:srgbClr val="D8A94A"/>
                </a:solidFill>
                <a:latin typeface="Malgun Gothic"/>
              </a:rPr>
              <a:t>3</a:t>
            </a:r>
          </a:p>
        </p:txBody>
      </p:sp>
      <p:sp>
        <p:nvSpPr>
          <p:cNvPr id="17" name="TextBox 16"/>
          <p:cNvSpPr txBox="1"/>
          <p:nvPr/>
        </p:nvSpPr>
        <p:spPr>
          <a:xfrm>
            <a:off x="1280160" y="2889504"/>
            <a:ext cx="5422392" cy="164592"/>
          </a:xfrm>
          <a:prstGeom prst="rect">
            <a:avLst/>
          </a:prstGeom>
          <a:noFill/>
        </p:spPr>
        <p:txBody>
          <a:bodyPr wrap="square" lIns="0" rIns="0" tIns="0" bIns="0">
            <a:normAutofit/>
          </a:bodyPr>
          <a:lstStyle/>
          <a:p>
            <a:r>
              <a:rPr sz="1150" b="1">
                <a:solidFill>
                  <a:srgbClr val="092642"/>
                </a:solidFill>
                <a:latin typeface="Malgun Gothic"/>
              </a:rPr>
              <a:t>오류 메시지를 보고 해결했다</a:t>
            </a:r>
          </a:p>
        </p:txBody>
      </p:sp>
      <p:sp>
        <p:nvSpPr>
          <p:cNvPr id="18" name="Rounded Rectangle 17"/>
          <p:cNvSpPr/>
          <p:nvPr/>
        </p:nvSpPr>
        <p:spPr>
          <a:xfrm>
            <a:off x="804672" y="3438144"/>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547872"/>
            <a:ext cx="256032" cy="164592"/>
          </a:xfrm>
          <a:prstGeom prst="rect">
            <a:avLst/>
          </a:prstGeom>
          <a:noFill/>
        </p:spPr>
        <p:txBody>
          <a:bodyPr wrap="square" lIns="0" rIns="0" tIns="0" bIns="0">
            <a:normAutofit/>
          </a:bodyPr>
          <a:lstStyle/>
          <a:p>
            <a:r>
              <a:rPr sz="1100" b="1">
                <a:solidFill>
                  <a:srgbClr val="D8A94A"/>
                </a:solidFill>
                <a:latin typeface="Malgun Gothic"/>
              </a:rPr>
              <a:t>4</a:t>
            </a:r>
          </a:p>
        </p:txBody>
      </p:sp>
      <p:sp>
        <p:nvSpPr>
          <p:cNvPr id="20" name="TextBox 19"/>
          <p:cNvSpPr txBox="1"/>
          <p:nvPr/>
        </p:nvSpPr>
        <p:spPr>
          <a:xfrm>
            <a:off x="1280160" y="3547872"/>
            <a:ext cx="5422392" cy="164592"/>
          </a:xfrm>
          <a:prstGeom prst="rect">
            <a:avLst/>
          </a:prstGeom>
          <a:noFill/>
        </p:spPr>
        <p:txBody>
          <a:bodyPr wrap="square" lIns="0" rIns="0" tIns="0" bIns="0">
            <a:normAutofit/>
          </a:bodyPr>
          <a:lstStyle/>
          <a:p>
            <a:r>
              <a:rPr sz="1150" b="1">
                <a:solidFill>
                  <a:srgbClr val="092642"/>
                </a:solidFill>
                <a:latin typeface="Malgun Gothic"/>
              </a:rPr>
              <a:t>요구사항 변경을 코드에 반영했다</a:t>
            </a:r>
          </a:p>
        </p:txBody>
      </p:sp>
      <p:sp>
        <p:nvSpPr>
          <p:cNvPr id="21" name="Rounded Rectangle 20"/>
          <p:cNvSpPr/>
          <p:nvPr/>
        </p:nvSpPr>
        <p:spPr>
          <a:xfrm>
            <a:off x="804672" y="4096512"/>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4206240"/>
            <a:ext cx="256032" cy="164592"/>
          </a:xfrm>
          <a:prstGeom prst="rect">
            <a:avLst/>
          </a:prstGeom>
          <a:noFill/>
        </p:spPr>
        <p:txBody>
          <a:bodyPr wrap="square" lIns="0" rIns="0" tIns="0" bIns="0">
            <a:normAutofit/>
          </a:bodyPr>
          <a:lstStyle/>
          <a:p>
            <a:r>
              <a:rPr sz="1100" b="1">
                <a:solidFill>
                  <a:srgbClr val="D8A94A"/>
                </a:solidFill>
                <a:latin typeface="Malgun Gothic"/>
              </a:rPr>
              <a:t>5</a:t>
            </a:r>
          </a:p>
        </p:txBody>
      </p:sp>
      <p:sp>
        <p:nvSpPr>
          <p:cNvPr id="23" name="TextBox 22"/>
          <p:cNvSpPr txBox="1"/>
          <p:nvPr/>
        </p:nvSpPr>
        <p:spPr>
          <a:xfrm>
            <a:off x="1280160" y="4206240"/>
            <a:ext cx="5422392" cy="164592"/>
          </a:xfrm>
          <a:prstGeom prst="rect">
            <a:avLst/>
          </a:prstGeom>
          <a:noFill/>
        </p:spPr>
        <p:txBody>
          <a:bodyPr wrap="square" lIns="0" rIns="0" tIns="0" bIns="0">
            <a:normAutofit/>
          </a:bodyPr>
          <a:lstStyle/>
          <a:p>
            <a:r>
              <a:rPr sz="1150" b="1">
                <a:solidFill>
                  <a:srgbClr val="092642"/>
                </a:solidFill>
                <a:latin typeface="Malgun Gothic"/>
              </a:rPr>
              <a:t>반복 업무를 컴퓨터에게 맡기는 경험을 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92642"/>
        </a:solidFill>
        <a:effectLst/>
      </p:bgPr>
    </p:bg>
    <p:spTree>
      <p:nvGrpSpPr>
        <p:cNvPr id="1" name=""/>
        <p:cNvGrpSpPr/>
        <p:nvPr/>
      </p:nvGrpSpPr>
      <p:grpSpPr/>
      <p:pic>
        <p:nvPicPr>
          <p:cNvPr id="2" name="Picture 1" descr="tmp_crop_6140399284667208498.jpg"/>
          <p:cNvPicPr>
            <a:picLocks noChangeAspect="1"/>
          </p:cNvPicPr>
          <p:nvPr/>
        </p:nvPicPr>
        <p:blipFill>
          <a:blip r:embed="rId2"/>
          <a:stretch>
            <a:fillRect/>
          </a:stretch>
        </p:blipFill>
        <p:spPr>
          <a:xfrm>
            <a:off x="6080760" y="0"/>
            <a:ext cx="6108192" cy="6858000"/>
          </a:xfrm>
          <a:prstGeom prst="rect">
            <a:avLst/>
          </a:prstGeom>
        </p:spPr>
      </p:pic>
      <p:sp>
        <p:nvSpPr>
          <p:cNvPr id="3" name="Rectangle 2"/>
          <p:cNvSpPr/>
          <p:nvPr/>
        </p:nvSpPr>
        <p:spPr>
          <a:xfrm>
            <a:off x="0" y="0"/>
            <a:ext cx="6309360" cy="6858000"/>
          </a:xfrm>
          <a:prstGeom prst="rect">
            <a:avLst/>
          </a:prstGeom>
          <a:solidFill>
            <a:srgbClr val="09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58368"/>
            <a:ext cx="914400" cy="201168"/>
          </a:xfrm>
          <a:prstGeom prst="rect">
            <a:avLst/>
          </a:prstGeom>
          <a:noFill/>
        </p:spPr>
        <p:txBody>
          <a:bodyPr wrap="square" lIns="0" rIns="0" tIns="0" bIns="0">
            <a:normAutofit/>
          </a:bodyPr>
          <a:lstStyle/>
          <a:p>
            <a:r>
              <a:rPr sz="950" b="1">
                <a:solidFill>
                  <a:srgbClr val="F3C56B"/>
                </a:solidFill>
                <a:latin typeface="Malgun Gothic"/>
              </a:rPr>
              <a:t>PART</a:t>
            </a:r>
          </a:p>
        </p:txBody>
      </p:sp>
      <p:sp>
        <p:nvSpPr>
          <p:cNvPr id="5" name="TextBox 4"/>
          <p:cNvSpPr txBox="1"/>
          <p:nvPr/>
        </p:nvSpPr>
        <p:spPr>
          <a:xfrm>
            <a:off x="713232" y="987552"/>
            <a:ext cx="1371600" cy="457200"/>
          </a:xfrm>
          <a:prstGeom prst="rect">
            <a:avLst/>
          </a:prstGeom>
          <a:noFill/>
        </p:spPr>
        <p:txBody>
          <a:bodyPr wrap="square" lIns="0" rIns="0" tIns="0" bIns="0">
            <a:normAutofit/>
          </a:bodyPr>
          <a:lstStyle/>
          <a:p>
            <a:r>
              <a:rPr sz="2800" b="1">
                <a:solidFill>
                  <a:srgbClr val="F3C56B"/>
                </a:solidFill>
                <a:latin typeface="Malgun Gothic"/>
              </a:rPr>
              <a:t>04</a:t>
            </a:r>
          </a:p>
        </p:txBody>
      </p:sp>
      <p:sp>
        <p:nvSpPr>
          <p:cNvPr id="6" name="TextBox 5"/>
          <p:cNvSpPr txBox="1"/>
          <p:nvPr/>
        </p:nvSpPr>
        <p:spPr>
          <a:xfrm>
            <a:off x="713232" y="1828800"/>
            <a:ext cx="5120640" cy="1051560"/>
          </a:xfrm>
          <a:prstGeom prst="rect">
            <a:avLst/>
          </a:prstGeom>
          <a:noFill/>
        </p:spPr>
        <p:txBody>
          <a:bodyPr wrap="square" lIns="0" rIns="0" tIns="0" bIns="0">
            <a:normAutofit/>
          </a:bodyPr>
          <a:lstStyle/>
          <a:p>
            <a:r>
              <a:rPr sz="3300" b="1">
                <a:solidFill>
                  <a:srgbClr val="FFFFFF"/>
                </a:solidFill>
                <a:latin typeface="Malgun Gothic"/>
              </a:rPr>
              <a:t>중급 과정
표도우미 제작</a:t>
            </a:r>
          </a:p>
        </p:txBody>
      </p:sp>
      <p:sp>
        <p:nvSpPr>
          <p:cNvPr id="7" name="TextBox 6"/>
          <p:cNvSpPr txBox="1"/>
          <p:nvPr/>
        </p:nvSpPr>
        <p:spPr>
          <a:xfrm>
            <a:off x="749808" y="3456432"/>
            <a:ext cx="5120640" cy="777240"/>
          </a:xfrm>
          <a:prstGeom prst="rect">
            <a:avLst/>
          </a:prstGeom>
          <a:noFill/>
        </p:spPr>
        <p:txBody>
          <a:bodyPr wrap="square" lIns="0" rIns="0" tIns="0" bIns="0">
            <a:normAutofit/>
          </a:bodyPr>
          <a:lstStyle/>
          <a:p>
            <a:r>
              <a:rPr sz="1700" b="0">
                <a:solidFill>
                  <a:srgbClr val="EAF2FA"/>
                </a:solidFill>
                <a:latin typeface="Malgun Gothic"/>
              </a:rPr>
              <a:t>한글 보고서 표 번호 정리 도구를 단계별로 만들어 갑니다.</a:t>
            </a:r>
          </a:p>
        </p:txBody>
      </p:sp>
      <p:sp>
        <p:nvSpPr>
          <p:cNvPr id="8" name="Rectangle 7"/>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과정</a:t>
            </a:r>
          </a:p>
        </p:txBody>
      </p:sp>
      <p:sp>
        <p:nvSpPr>
          <p:cNvPr id="10" name="TextBox 9"/>
          <p:cNvSpPr txBox="1"/>
          <p:nvPr/>
        </p:nvSpPr>
        <p:spPr>
          <a:xfrm>
            <a:off x="11201400" y="6556248"/>
            <a:ext cx="384048" cy="164592"/>
          </a:xfrm>
          <a:prstGeom prst="rect">
            <a:avLst/>
          </a:prstGeom>
          <a:noFill/>
        </p:spPr>
        <p:txBody>
          <a:bodyPr wrap="square" lIns="0" rIns="0" tIns="0" bIns="0">
            <a:normAutofit/>
          </a:bodyPr>
          <a:lstStyle/>
          <a:p>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PROBLEM</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표도우미는 왜 필요한가?</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보고서 중간에 표가 추가되면 뒤 번호를 모두 밀어야 합니다.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7272938572542561694.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필요성</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38</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[표 1] 감사 개요</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[표 2] 기관별 제출 현황</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[표 3] 주요 지적사항</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[표 4] 조치계획</a:t>
            </a:r>
          </a:p>
        </p:txBody>
      </p:sp>
      <p:sp>
        <p:nvSpPr>
          <p:cNvPr id="18" name="TextBox 17"/>
          <p:cNvSpPr txBox="1"/>
          <p:nvPr/>
        </p:nvSpPr>
        <p:spPr>
          <a:xfrm>
            <a:off x="804672" y="3685032"/>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9" name="TextBox 18"/>
          <p:cNvSpPr txBox="1"/>
          <p:nvPr/>
        </p:nvSpPr>
        <p:spPr>
          <a:xfrm>
            <a:off x="1097280" y="3685032"/>
            <a:ext cx="5742431" cy="310896"/>
          </a:xfrm>
          <a:prstGeom prst="rect">
            <a:avLst/>
          </a:prstGeom>
          <a:noFill/>
        </p:spPr>
        <p:txBody>
          <a:bodyPr wrap="square" lIns="0" rIns="0" tIns="0" bIns="0">
            <a:normAutofit/>
          </a:bodyPr>
          <a:lstStyle/>
          <a:p>
            <a:r>
              <a:rPr sz="1450" b="0">
                <a:solidFill>
                  <a:srgbClr val="172033"/>
                </a:solidFill>
                <a:latin typeface="Malgun Gothic"/>
              </a:rPr>
              <a:t>표가 50개, 100개라면 수작업 수정은 위험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GOAL</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표도우미의 최종 목표</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표 번호 관리를 실제 업무 도구로 바꾸는 것이 목표입니다.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7272938572542561694.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목표</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39</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한글 문서에서 [표 숫자] 제목 형식 찾기</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찾은 표 제목을 목록으로 표시</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특정 번호부터 n+ 또는 n- 실행</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[표 0] 새 삽입 표 처리</a:t>
            </a:r>
          </a:p>
        </p:txBody>
      </p:sp>
      <p:sp>
        <p:nvSpPr>
          <p:cNvPr id="18" name="TextBox 17"/>
          <p:cNvSpPr txBox="1"/>
          <p:nvPr/>
        </p:nvSpPr>
        <p:spPr>
          <a:xfrm>
            <a:off x="804672" y="3685032"/>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9" name="TextBox 18"/>
          <p:cNvSpPr txBox="1"/>
          <p:nvPr/>
        </p:nvSpPr>
        <p:spPr>
          <a:xfrm>
            <a:off x="1097280" y="3685032"/>
            <a:ext cx="5742431" cy="310896"/>
          </a:xfrm>
          <a:prstGeom prst="rect">
            <a:avLst/>
          </a:prstGeom>
          <a:noFill/>
        </p:spPr>
        <p:txBody>
          <a:bodyPr wrap="square" lIns="0" rIns="0" tIns="0" bIns="0">
            <a:normAutofit/>
          </a:bodyPr>
          <a:lstStyle/>
          <a:p>
            <a:r>
              <a:rPr sz="1450" b="0">
                <a:solidFill>
                  <a:srgbClr val="172033"/>
                </a:solidFill>
                <a:latin typeface="Malgun Gothic"/>
              </a:rPr>
              <a:t>목록 클릭 시 문서 위치 이동</a:t>
            </a:r>
          </a:p>
        </p:txBody>
      </p:sp>
      <p:sp>
        <p:nvSpPr>
          <p:cNvPr id="20" name="TextBox 19"/>
          <p:cNvSpPr txBox="1"/>
          <p:nvPr/>
        </p:nvSpPr>
        <p:spPr>
          <a:xfrm>
            <a:off x="804672" y="416052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21" name="TextBox 20"/>
          <p:cNvSpPr txBox="1"/>
          <p:nvPr/>
        </p:nvSpPr>
        <p:spPr>
          <a:xfrm>
            <a:off x="1097280" y="4160520"/>
            <a:ext cx="5742431" cy="310896"/>
          </a:xfrm>
          <a:prstGeom prst="rect">
            <a:avLst/>
          </a:prstGeom>
          <a:noFill/>
        </p:spPr>
        <p:txBody>
          <a:bodyPr wrap="square" lIns="0" rIns="0" tIns="0" bIns="0">
            <a:normAutofit/>
          </a:bodyPr>
          <a:lstStyle/>
          <a:p>
            <a:r>
              <a:rPr sz="1450" b="0">
                <a:solidFill>
                  <a:srgbClr val="172033"/>
                </a:solidFill>
                <a:latin typeface="Malgun Gothic"/>
              </a:rPr>
              <a:t>나중에는 그림·도표도 처리</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ROADMAP</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중급 과정은 한 번에 완성하지 않습니다</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7272938572542561694.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로드맵</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40</a:t>
            </a:r>
          </a:p>
        </p:txBody>
      </p:sp>
      <p:sp>
        <p:nvSpPr>
          <p:cNvPr id="9" name="Rounded Rectangle 8"/>
          <p:cNvSpPr/>
          <p:nvPr/>
        </p:nvSpPr>
        <p:spPr>
          <a:xfrm>
            <a:off x="804672" y="132588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435607"/>
            <a:ext cx="256032" cy="164592"/>
          </a:xfrm>
          <a:prstGeom prst="rect">
            <a:avLst/>
          </a:prstGeom>
          <a:noFill/>
        </p:spPr>
        <p:txBody>
          <a:bodyPr wrap="square" lIns="0" rIns="0" tIns="0" bIns="0">
            <a:normAutofit/>
          </a:bodyPr>
          <a:lstStyle/>
          <a:p>
            <a:r>
              <a:rPr sz="1100" b="1">
                <a:solidFill>
                  <a:srgbClr val="D8A94A"/>
                </a:solidFill>
                <a:latin typeface="Malgun Gothic"/>
              </a:rPr>
              <a:t>1</a:t>
            </a:r>
          </a:p>
        </p:txBody>
      </p:sp>
      <p:sp>
        <p:nvSpPr>
          <p:cNvPr id="11" name="TextBox 10"/>
          <p:cNvSpPr txBox="1"/>
          <p:nvPr/>
        </p:nvSpPr>
        <p:spPr>
          <a:xfrm>
            <a:off x="1280160" y="1435607"/>
            <a:ext cx="5422392" cy="164592"/>
          </a:xfrm>
          <a:prstGeom prst="rect">
            <a:avLst/>
          </a:prstGeom>
          <a:noFill/>
        </p:spPr>
        <p:txBody>
          <a:bodyPr wrap="square" lIns="0" rIns="0" tIns="0" bIns="0">
            <a:normAutofit/>
          </a:bodyPr>
          <a:lstStyle/>
          <a:p>
            <a:r>
              <a:rPr sz="1150" b="1">
                <a:solidFill>
                  <a:srgbClr val="092642"/>
                </a:solidFill>
                <a:latin typeface="Malgun Gothic"/>
              </a:rPr>
              <a:t>텍스트 파일에서 표 제목 찾기</a:t>
            </a:r>
          </a:p>
        </p:txBody>
      </p:sp>
      <p:sp>
        <p:nvSpPr>
          <p:cNvPr id="12" name="Rounded Rectangle 11"/>
          <p:cNvSpPr/>
          <p:nvPr/>
        </p:nvSpPr>
        <p:spPr>
          <a:xfrm>
            <a:off x="804672" y="1892807"/>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002536"/>
            <a:ext cx="256032" cy="164592"/>
          </a:xfrm>
          <a:prstGeom prst="rect">
            <a:avLst/>
          </a:prstGeom>
          <a:noFill/>
        </p:spPr>
        <p:txBody>
          <a:bodyPr wrap="square" lIns="0" rIns="0" tIns="0" bIns="0">
            <a:normAutofit/>
          </a:bodyPr>
          <a:lstStyle/>
          <a:p>
            <a:r>
              <a:rPr sz="1100" b="1">
                <a:solidFill>
                  <a:srgbClr val="D8A94A"/>
                </a:solidFill>
                <a:latin typeface="Malgun Gothic"/>
              </a:rPr>
              <a:t>2</a:t>
            </a:r>
          </a:p>
        </p:txBody>
      </p:sp>
      <p:sp>
        <p:nvSpPr>
          <p:cNvPr id="14" name="TextBox 13"/>
          <p:cNvSpPr txBox="1"/>
          <p:nvPr/>
        </p:nvSpPr>
        <p:spPr>
          <a:xfrm>
            <a:off x="1280160" y="2002536"/>
            <a:ext cx="5422392" cy="164592"/>
          </a:xfrm>
          <a:prstGeom prst="rect">
            <a:avLst/>
          </a:prstGeom>
          <a:noFill/>
        </p:spPr>
        <p:txBody>
          <a:bodyPr wrap="square" lIns="0" rIns="0" tIns="0" bIns="0">
            <a:normAutofit/>
          </a:bodyPr>
          <a:lstStyle/>
          <a:p>
            <a:r>
              <a:rPr sz="1150" b="1">
                <a:solidFill>
                  <a:srgbClr val="092642"/>
                </a:solidFill>
                <a:latin typeface="Malgun Gothic"/>
              </a:rPr>
              <a:t>표 번호를 +1, -1 하는 규칙 만들기</a:t>
            </a:r>
          </a:p>
        </p:txBody>
      </p:sp>
      <p:sp>
        <p:nvSpPr>
          <p:cNvPr id="15" name="Rounded Rectangle 14"/>
          <p:cNvSpPr/>
          <p:nvPr/>
        </p:nvSpPr>
        <p:spPr>
          <a:xfrm>
            <a:off x="804672" y="2459736"/>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569464"/>
            <a:ext cx="256032" cy="164592"/>
          </a:xfrm>
          <a:prstGeom prst="rect">
            <a:avLst/>
          </a:prstGeom>
          <a:noFill/>
        </p:spPr>
        <p:txBody>
          <a:bodyPr wrap="square" lIns="0" rIns="0" tIns="0" bIns="0">
            <a:normAutofit/>
          </a:bodyPr>
          <a:lstStyle/>
          <a:p>
            <a:r>
              <a:rPr sz="1100" b="1">
                <a:solidFill>
                  <a:srgbClr val="D8A94A"/>
                </a:solidFill>
                <a:latin typeface="Malgun Gothic"/>
              </a:rPr>
              <a:t>3</a:t>
            </a:r>
          </a:p>
        </p:txBody>
      </p:sp>
      <p:sp>
        <p:nvSpPr>
          <p:cNvPr id="17" name="TextBox 16"/>
          <p:cNvSpPr txBox="1"/>
          <p:nvPr/>
        </p:nvSpPr>
        <p:spPr>
          <a:xfrm>
            <a:off x="1280160" y="2569464"/>
            <a:ext cx="5422392" cy="164592"/>
          </a:xfrm>
          <a:prstGeom prst="rect">
            <a:avLst/>
          </a:prstGeom>
          <a:noFill/>
        </p:spPr>
        <p:txBody>
          <a:bodyPr wrap="square" lIns="0" rIns="0" tIns="0" bIns="0">
            <a:normAutofit/>
          </a:bodyPr>
          <a:lstStyle/>
          <a:p>
            <a:r>
              <a:rPr sz="1150" b="1">
                <a:solidFill>
                  <a:srgbClr val="092642"/>
                </a:solidFill>
                <a:latin typeface="Malgun Gothic"/>
              </a:rPr>
              <a:t>GUI 화면 만들기</a:t>
            </a:r>
          </a:p>
        </p:txBody>
      </p:sp>
      <p:sp>
        <p:nvSpPr>
          <p:cNvPr id="18" name="Rounded Rectangle 17"/>
          <p:cNvSpPr/>
          <p:nvPr/>
        </p:nvSpPr>
        <p:spPr>
          <a:xfrm>
            <a:off x="804672" y="3026663"/>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136391"/>
            <a:ext cx="256032" cy="164592"/>
          </a:xfrm>
          <a:prstGeom prst="rect">
            <a:avLst/>
          </a:prstGeom>
          <a:noFill/>
        </p:spPr>
        <p:txBody>
          <a:bodyPr wrap="square" lIns="0" rIns="0" tIns="0" bIns="0">
            <a:normAutofit/>
          </a:bodyPr>
          <a:lstStyle/>
          <a:p>
            <a:r>
              <a:rPr sz="1100" b="1">
                <a:solidFill>
                  <a:srgbClr val="D8A94A"/>
                </a:solidFill>
                <a:latin typeface="Malgun Gothic"/>
              </a:rPr>
              <a:t>4</a:t>
            </a:r>
          </a:p>
        </p:txBody>
      </p:sp>
      <p:sp>
        <p:nvSpPr>
          <p:cNvPr id="20" name="TextBox 19"/>
          <p:cNvSpPr txBox="1"/>
          <p:nvPr/>
        </p:nvSpPr>
        <p:spPr>
          <a:xfrm>
            <a:off x="1280160" y="3136391"/>
            <a:ext cx="5422392" cy="164592"/>
          </a:xfrm>
          <a:prstGeom prst="rect">
            <a:avLst/>
          </a:prstGeom>
          <a:noFill/>
        </p:spPr>
        <p:txBody>
          <a:bodyPr wrap="square" lIns="0" rIns="0" tIns="0" bIns="0">
            <a:normAutofit/>
          </a:bodyPr>
          <a:lstStyle/>
          <a:p>
            <a:r>
              <a:rPr sz="1150" b="1">
                <a:solidFill>
                  <a:srgbClr val="092642"/>
                </a:solidFill>
                <a:latin typeface="Malgun Gothic"/>
              </a:rPr>
              <a:t>한글 문서에서 텍스트 가져오기</a:t>
            </a:r>
          </a:p>
        </p:txBody>
      </p:sp>
      <p:sp>
        <p:nvSpPr>
          <p:cNvPr id="21" name="Rounded Rectangle 20"/>
          <p:cNvSpPr/>
          <p:nvPr/>
        </p:nvSpPr>
        <p:spPr>
          <a:xfrm>
            <a:off x="804672" y="3593591"/>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703320"/>
            <a:ext cx="256032" cy="164592"/>
          </a:xfrm>
          <a:prstGeom prst="rect">
            <a:avLst/>
          </a:prstGeom>
          <a:noFill/>
        </p:spPr>
        <p:txBody>
          <a:bodyPr wrap="square" lIns="0" rIns="0" tIns="0" bIns="0">
            <a:normAutofit/>
          </a:bodyPr>
          <a:lstStyle/>
          <a:p>
            <a:r>
              <a:rPr sz="1100" b="1">
                <a:solidFill>
                  <a:srgbClr val="D8A94A"/>
                </a:solidFill>
                <a:latin typeface="Malgun Gothic"/>
              </a:rPr>
              <a:t>5</a:t>
            </a:r>
          </a:p>
        </p:txBody>
      </p:sp>
      <p:sp>
        <p:nvSpPr>
          <p:cNvPr id="23" name="TextBox 22"/>
          <p:cNvSpPr txBox="1"/>
          <p:nvPr/>
        </p:nvSpPr>
        <p:spPr>
          <a:xfrm>
            <a:off x="1280160" y="3703320"/>
            <a:ext cx="5422392" cy="164592"/>
          </a:xfrm>
          <a:prstGeom prst="rect">
            <a:avLst/>
          </a:prstGeom>
          <a:noFill/>
        </p:spPr>
        <p:txBody>
          <a:bodyPr wrap="square" lIns="0" rIns="0" tIns="0" bIns="0">
            <a:normAutofit/>
          </a:bodyPr>
          <a:lstStyle/>
          <a:p>
            <a:r>
              <a:rPr sz="1150" b="1">
                <a:solidFill>
                  <a:srgbClr val="092642"/>
                </a:solidFill>
                <a:latin typeface="Malgun Gothic"/>
              </a:rPr>
              <a:t>한글 문서에 수정 결과 반영하기</a:t>
            </a:r>
          </a:p>
        </p:txBody>
      </p:sp>
      <p:sp>
        <p:nvSpPr>
          <p:cNvPr id="24" name="Rounded Rectangle 23"/>
          <p:cNvSpPr/>
          <p:nvPr/>
        </p:nvSpPr>
        <p:spPr>
          <a:xfrm>
            <a:off x="804672" y="416052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4270248"/>
            <a:ext cx="256032" cy="164592"/>
          </a:xfrm>
          <a:prstGeom prst="rect">
            <a:avLst/>
          </a:prstGeom>
          <a:noFill/>
        </p:spPr>
        <p:txBody>
          <a:bodyPr wrap="square" lIns="0" rIns="0" tIns="0" bIns="0">
            <a:normAutofit/>
          </a:bodyPr>
          <a:lstStyle/>
          <a:p>
            <a:r>
              <a:rPr sz="1100" b="1">
                <a:solidFill>
                  <a:srgbClr val="D8A94A"/>
                </a:solidFill>
                <a:latin typeface="Malgun Gothic"/>
              </a:rPr>
              <a:t>6</a:t>
            </a:r>
          </a:p>
        </p:txBody>
      </p:sp>
      <p:sp>
        <p:nvSpPr>
          <p:cNvPr id="26" name="TextBox 25"/>
          <p:cNvSpPr txBox="1"/>
          <p:nvPr/>
        </p:nvSpPr>
        <p:spPr>
          <a:xfrm>
            <a:off x="1280160" y="4270248"/>
            <a:ext cx="5422392" cy="164592"/>
          </a:xfrm>
          <a:prstGeom prst="rect">
            <a:avLst/>
          </a:prstGeom>
          <a:noFill/>
        </p:spPr>
        <p:txBody>
          <a:bodyPr wrap="square" lIns="0" rIns="0" tIns="0" bIns="0">
            <a:normAutofit/>
          </a:bodyPr>
          <a:lstStyle/>
          <a:p>
            <a:r>
              <a:rPr sz="1150" b="1">
                <a:solidFill>
                  <a:srgbClr val="092642"/>
                </a:solidFill>
                <a:latin typeface="Malgun Gothic"/>
              </a:rPr>
              <a:t>예외 처리하기</a:t>
            </a:r>
          </a:p>
        </p:txBody>
      </p:sp>
      <p:sp>
        <p:nvSpPr>
          <p:cNvPr id="27" name="Rounded Rectangle 26"/>
          <p:cNvSpPr/>
          <p:nvPr/>
        </p:nvSpPr>
        <p:spPr>
          <a:xfrm>
            <a:off x="804672" y="4727448"/>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837176"/>
            <a:ext cx="256032" cy="164592"/>
          </a:xfrm>
          <a:prstGeom prst="rect">
            <a:avLst/>
          </a:prstGeom>
          <a:noFill/>
        </p:spPr>
        <p:txBody>
          <a:bodyPr wrap="square" lIns="0" rIns="0" tIns="0" bIns="0">
            <a:normAutofit/>
          </a:bodyPr>
          <a:lstStyle/>
          <a:p>
            <a:r>
              <a:rPr sz="1100" b="1">
                <a:solidFill>
                  <a:srgbClr val="D8A94A"/>
                </a:solidFill>
                <a:latin typeface="Malgun Gothic"/>
              </a:rPr>
              <a:t>7</a:t>
            </a:r>
          </a:p>
        </p:txBody>
      </p:sp>
      <p:sp>
        <p:nvSpPr>
          <p:cNvPr id="29" name="TextBox 28"/>
          <p:cNvSpPr txBox="1"/>
          <p:nvPr/>
        </p:nvSpPr>
        <p:spPr>
          <a:xfrm>
            <a:off x="1280160" y="4837176"/>
            <a:ext cx="5422392" cy="164592"/>
          </a:xfrm>
          <a:prstGeom prst="rect">
            <a:avLst/>
          </a:prstGeom>
          <a:noFill/>
        </p:spPr>
        <p:txBody>
          <a:bodyPr wrap="square" lIns="0" rIns="0" tIns="0" bIns="0">
            <a:normAutofit/>
          </a:bodyPr>
          <a:lstStyle/>
          <a:p>
            <a:r>
              <a:rPr sz="1150" b="1">
                <a:solidFill>
                  <a:srgbClr val="092642"/>
                </a:solidFill>
                <a:latin typeface="Malgun Gothic"/>
              </a:rPr>
              <a:t>표도우미 형태로 정리하기</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STEP 1</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텍스트에서 표 제목 찾기</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처음부터 한글 문서와 연결하지 말고 텍스트 파일로 연습합니다.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1단계</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41</a:t>
            </a:r>
          </a:p>
        </p:txBody>
      </p:sp>
      <p:sp>
        <p:nvSpPr>
          <p:cNvPr id="10" name="Rounded Rectangle 9"/>
          <p:cNvSpPr/>
          <p:nvPr/>
        </p:nvSpPr>
        <p:spPr>
          <a:xfrm>
            <a:off x="786384" y="1874519"/>
            <a:ext cx="6080760" cy="292608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1984248"/>
            <a:ext cx="5788152" cy="2715768"/>
          </a:xfrm>
          <a:prstGeom prst="rect">
            <a:avLst/>
          </a:prstGeom>
          <a:noFill/>
        </p:spPr>
        <p:txBody>
          <a:bodyPr wrap="square" lIns="0" rIns="0" tIns="0" bIns="0">
            <a:normAutofit/>
          </a:bodyPr>
          <a:lstStyle/>
          <a:p>
            <a:r>
              <a:rPr sz="1150" b="0">
                <a:solidFill>
                  <a:srgbClr val="EEF4FA"/>
                </a:solidFill>
                <a:latin typeface="Consolas"/>
              </a:rPr>
              <a:t>sample_report.txt
제1절 배경 및 목적
[표 1] 감사 개요
본문 내용입니다.
[표 2] 기관별 제출 현황
본문 내용입니다.
[표 3] 주요 지적사항</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PROMPT</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표 제목 찾기 프롬프트</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1단계</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42</a:t>
            </a:r>
          </a:p>
        </p:txBody>
      </p:sp>
      <p:sp>
        <p:nvSpPr>
          <p:cNvPr id="9" name="Rounded Rectangle 8"/>
          <p:cNvSpPr/>
          <p:nvPr/>
        </p:nvSpPr>
        <p:spPr>
          <a:xfrm>
            <a:off x="713232" y="1234440"/>
            <a:ext cx="6629400" cy="457200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344168"/>
            <a:ext cx="6336792" cy="4361688"/>
          </a:xfrm>
          <a:prstGeom prst="rect">
            <a:avLst/>
          </a:prstGeom>
          <a:noFill/>
        </p:spPr>
        <p:txBody>
          <a:bodyPr wrap="square" lIns="0" rIns="0" tIns="0" bIns="0">
            <a:normAutofit/>
          </a:bodyPr>
          <a:lstStyle/>
          <a:p>
            <a:r>
              <a:rPr sz="1040" b="0">
                <a:solidFill>
                  <a:srgbClr val="EEF4FA"/>
                </a:solidFill>
                <a:latin typeface="Consolas"/>
              </a:rPr>
              <a:t>파이썬으로 텍스트 파일에서 [표 숫자] 제목 형식의 줄을
찾아 목록으로 출력하는 코드를 만들어줘.
조건
1. 파일 이름은 sample_report.txt
2. [표 1] 감사 개요 같은 형식 찾기
3. 표 번호와 제목을 분리해서 출력
4. 정규식 사용
5. 초보자도 이해할 수 있게 주석 추가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CODE</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텍스트에서 표 제목 찾는 코드</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1단계</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43</a:t>
            </a:r>
          </a:p>
        </p:txBody>
      </p:sp>
      <p:sp>
        <p:nvSpPr>
          <p:cNvPr id="9" name="Rounded Rectangle 8"/>
          <p:cNvSpPr/>
          <p:nvPr/>
        </p:nvSpPr>
        <p:spPr>
          <a:xfrm>
            <a:off x="713232" y="1234440"/>
            <a:ext cx="6629400" cy="457200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344168"/>
            <a:ext cx="6336792" cy="4361688"/>
          </a:xfrm>
          <a:prstGeom prst="rect">
            <a:avLst/>
          </a:prstGeom>
          <a:noFill/>
        </p:spPr>
        <p:txBody>
          <a:bodyPr wrap="square" lIns="0" rIns="0" tIns="0" bIns="0">
            <a:normAutofit/>
          </a:bodyPr>
          <a:lstStyle/>
          <a:p>
            <a:r>
              <a:rPr sz="1040" b="0">
                <a:solidFill>
                  <a:srgbClr val="EEF4FA"/>
                </a:solidFill>
                <a:latin typeface="Consolas"/>
              </a:rPr>
              <a:t>import re
pattern = re.compile(r"^\[표\s*(\d+)\]\s*(.+)$")
with open("sample_report.txt", "r", encoding="utf-8") as f:
    lines = f.readlines()
for line in lines:
    line = line.strip()
    match = pattern.match(line)
    if match:
        table_no = match.group(1)
        title = match.group(2)
        print(f"표 번호: {table_no}, 제목: {title}")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STEP 2</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특정 번호부터 +1 하기</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예: [표 3]부터 뒤 번호를 하나씩 증가시킵니다.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7272938572542561694.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2단계</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44</a:t>
            </a:r>
          </a:p>
        </p:txBody>
      </p:sp>
      <p:sp>
        <p:nvSpPr>
          <p:cNvPr id="10" name="Rectangle 9"/>
          <p:cNvSpPr/>
          <p:nvPr/>
        </p:nvSpPr>
        <p:spPr>
          <a:xfrm>
            <a:off x="713232" y="1874519"/>
            <a:ext cx="2971800" cy="512064"/>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65960"/>
            <a:ext cx="2843784" cy="365760"/>
          </a:xfrm>
          <a:prstGeom prst="rect">
            <a:avLst/>
          </a:prstGeom>
          <a:noFill/>
        </p:spPr>
        <p:txBody>
          <a:bodyPr wrap="square" lIns="0" rIns="0" tIns="0" bIns="0" anchor="ctr">
            <a:normAutofit/>
          </a:bodyPr>
          <a:lstStyle/>
          <a:p>
            <a:pPr algn="ctr"/>
            <a:r>
              <a:rPr sz="1080" b="1">
                <a:solidFill>
                  <a:srgbClr val="FFFFFF"/>
                </a:solidFill>
                <a:latin typeface="Malgun Gothic"/>
              </a:rPr>
              <a:t>수정 전</a:t>
            </a:r>
          </a:p>
        </p:txBody>
      </p:sp>
      <p:sp>
        <p:nvSpPr>
          <p:cNvPr id="12" name="Rectangle 11"/>
          <p:cNvSpPr/>
          <p:nvPr/>
        </p:nvSpPr>
        <p:spPr>
          <a:xfrm>
            <a:off x="3685032" y="1874519"/>
            <a:ext cx="2971800" cy="512064"/>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0" y="1965960"/>
            <a:ext cx="2843784" cy="365760"/>
          </a:xfrm>
          <a:prstGeom prst="rect">
            <a:avLst/>
          </a:prstGeom>
          <a:noFill/>
        </p:spPr>
        <p:txBody>
          <a:bodyPr wrap="square" lIns="0" rIns="0" tIns="0" bIns="0" anchor="ctr">
            <a:normAutofit/>
          </a:bodyPr>
          <a:lstStyle/>
          <a:p>
            <a:pPr algn="ctr"/>
            <a:r>
              <a:rPr sz="1080" b="1">
                <a:solidFill>
                  <a:srgbClr val="FFFFFF"/>
                </a:solidFill>
                <a:latin typeface="Malgun Gothic"/>
              </a:rPr>
              <a:t>수정 후</a:t>
            </a:r>
          </a:p>
        </p:txBody>
      </p:sp>
      <p:sp>
        <p:nvSpPr>
          <p:cNvPr id="14" name="Rectangle 13"/>
          <p:cNvSpPr/>
          <p:nvPr/>
        </p:nvSpPr>
        <p:spPr>
          <a:xfrm>
            <a:off x="713232" y="2386584"/>
            <a:ext cx="2971800" cy="512064"/>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478024"/>
            <a:ext cx="2843784" cy="365760"/>
          </a:xfrm>
          <a:prstGeom prst="rect">
            <a:avLst/>
          </a:prstGeom>
          <a:noFill/>
        </p:spPr>
        <p:txBody>
          <a:bodyPr wrap="square" lIns="0" rIns="0" tIns="0" bIns="0" anchor="ctr">
            <a:normAutofit/>
          </a:bodyPr>
          <a:lstStyle/>
          <a:p>
            <a:pPr algn="ctr"/>
            <a:r>
              <a:rPr sz="980" b="0">
                <a:solidFill>
                  <a:srgbClr val="172033"/>
                </a:solidFill>
                <a:latin typeface="Malgun Gothic"/>
              </a:rPr>
              <a:t>[표 1] 감사 개요</a:t>
            </a:r>
          </a:p>
        </p:txBody>
      </p:sp>
      <p:sp>
        <p:nvSpPr>
          <p:cNvPr id="16" name="Rectangle 15"/>
          <p:cNvSpPr/>
          <p:nvPr/>
        </p:nvSpPr>
        <p:spPr>
          <a:xfrm>
            <a:off x="3685032" y="2386584"/>
            <a:ext cx="2971800" cy="512064"/>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0" y="2478024"/>
            <a:ext cx="2843784" cy="365760"/>
          </a:xfrm>
          <a:prstGeom prst="rect">
            <a:avLst/>
          </a:prstGeom>
          <a:noFill/>
        </p:spPr>
        <p:txBody>
          <a:bodyPr wrap="square" lIns="0" rIns="0" tIns="0" bIns="0" anchor="ctr">
            <a:normAutofit/>
          </a:bodyPr>
          <a:lstStyle/>
          <a:p>
            <a:pPr algn="ctr"/>
            <a:r>
              <a:rPr sz="980" b="0">
                <a:solidFill>
                  <a:srgbClr val="172033"/>
                </a:solidFill>
                <a:latin typeface="Malgun Gothic"/>
              </a:rPr>
              <a:t>[표 1] 감사 개요</a:t>
            </a:r>
          </a:p>
        </p:txBody>
      </p:sp>
      <p:sp>
        <p:nvSpPr>
          <p:cNvPr id="18" name="Rectangle 17"/>
          <p:cNvSpPr/>
          <p:nvPr/>
        </p:nvSpPr>
        <p:spPr>
          <a:xfrm>
            <a:off x="713232" y="2898648"/>
            <a:ext cx="2971800" cy="512064"/>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990088"/>
            <a:ext cx="2843784" cy="365760"/>
          </a:xfrm>
          <a:prstGeom prst="rect">
            <a:avLst/>
          </a:prstGeom>
          <a:noFill/>
        </p:spPr>
        <p:txBody>
          <a:bodyPr wrap="square" lIns="0" rIns="0" tIns="0" bIns="0" anchor="ctr">
            <a:normAutofit/>
          </a:bodyPr>
          <a:lstStyle/>
          <a:p>
            <a:pPr algn="ctr"/>
            <a:r>
              <a:rPr sz="980" b="0">
                <a:solidFill>
                  <a:srgbClr val="172033"/>
                </a:solidFill>
                <a:latin typeface="Malgun Gothic"/>
              </a:rPr>
              <a:t>[표 2] 기관별 제출 현황</a:t>
            </a:r>
          </a:p>
        </p:txBody>
      </p:sp>
      <p:sp>
        <p:nvSpPr>
          <p:cNvPr id="20" name="Rectangle 19"/>
          <p:cNvSpPr/>
          <p:nvPr/>
        </p:nvSpPr>
        <p:spPr>
          <a:xfrm>
            <a:off x="3685032" y="2898648"/>
            <a:ext cx="2971800" cy="512064"/>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40" y="2990088"/>
            <a:ext cx="2843784" cy="365760"/>
          </a:xfrm>
          <a:prstGeom prst="rect">
            <a:avLst/>
          </a:prstGeom>
          <a:noFill/>
        </p:spPr>
        <p:txBody>
          <a:bodyPr wrap="square" lIns="0" rIns="0" tIns="0" bIns="0" anchor="ctr">
            <a:normAutofit/>
          </a:bodyPr>
          <a:lstStyle/>
          <a:p>
            <a:pPr algn="ctr"/>
            <a:r>
              <a:rPr sz="980" b="0">
                <a:solidFill>
                  <a:srgbClr val="172033"/>
                </a:solidFill>
                <a:latin typeface="Malgun Gothic"/>
              </a:rPr>
              <a:t>[표 2] 기관별 제출 현황</a:t>
            </a:r>
          </a:p>
        </p:txBody>
      </p:sp>
      <p:sp>
        <p:nvSpPr>
          <p:cNvPr id="22" name="Rectangle 21"/>
          <p:cNvSpPr/>
          <p:nvPr/>
        </p:nvSpPr>
        <p:spPr>
          <a:xfrm>
            <a:off x="713232" y="3410712"/>
            <a:ext cx="2971800" cy="512064"/>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502152"/>
            <a:ext cx="2843784" cy="365760"/>
          </a:xfrm>
          <a:prstGeom prst="rect">
            <a:avLst/>
          </a:prstGeom>
          <a:noFill/>
        </p:spPr>
        <p:txBody>
          <a:bodyPr wrap="square" lIns="0" rIns="0" tIns="0" bIns="0" anchor="ctr">
            <a:normAutofit/>
          </a:bodyPr>
          <a:lstStyle/>
          <a:p>
            <a:pPr algn="ctr"/>
            <a:r>
              <a:rPr sz="980" b="0">
                <a:solidFill>
                  <a:srgbClr val="172033"/>
                </a:solidFill>
                <a:latin typeface="Malgun Gothic"/>
              </a:rPr>
              <a:t>[표 3] 주요 지적사항</a:t>
            </a:r>
          </a:p>
        </p:txBody>
      </p:sp>
      <p:sp>
        <p:nvSpPr>
          <p:cNvPr id="24" name="Rectangle 23"/>
          <p:cNvSpPr/>
          <p:nvPr/>
        </p:nvSpPr>
        <p:spPr>
          <a:xfrm>
            <a:off x="3685032" y="3410712"/>
            <a:ext cx="2971800" cy="512064"/>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49040" y="3502152"/>
            <a:ext cx="2843784" cy="365760"/>
          </a:xfrm>
          <a:prstGeom prst="rect">
            <a:avLst/>
          </a:prstGeom>
          <a:noFill/>
        </p:spPr>
        <p:txBody>
          <a:bodyPr wrap="square" lIns="0" rIns="0" tIns="0" bIns="0" anchor="ctr">
            <a:normAutofit/>
          </a:bodyPr>
          <a:lstStyle/>
          <a:p>
            <a:pPr algn="ctr"/>
            <a:r>
              <a:rPr sz="980" b="0">
                <a:solidFill>
                  <a:srgbClr val="172033"/>
                </a:solidFill>
                <a:latin typeface="Malgun Gothic"/>
              </a:rPr>
              <a:t>[표 4] 주요 지적사항</a:t>
            </a:r>
          </a:p>
        </p:txBody>
      </p:sp>
      <p:sp>
        <p:nvSpPr>
          <p:cNvPr id="26" name="Rectangle 25"/>
          <p:cNvSpPr/>
          <p:nvPr/>
        </p:nvSpPr>
        <p:spPr>
          <a:xfrm>
            <a:off x="713232" y="3922776"/>
            <a:ext cx="2971800" cy="512064"/>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014215"/>
            <a:ext cx="2843784" cy="365760"/>
          </a:xfrm>
          <a:prstGeom prst="rect">
            <a:avLst/>
          </a:prstGeom>
          <a:noFill/>
        </p:spPr>
        <p:txBody>
          <a:bodyPr wrap="square" lIns="0" rIns="0" tIns="0" bIns="0" anchor="ctr">
            <a:normAutofit/>
          </a:bodyPr>
          <a:lstStyle/>
          <a:p>
            <a:pPr algn="ctr"/>
            <a:r>
              <a:rPr sz="980" b="0">
                <a:solidFill>
                  <a:srgbClr val="172033"/>
                </a:solidFill>
                <a:latin typeface="Malgun Gothic"/>
              </a:rPr>
              <a:t>[표 4] 조치계획</a:t>
            </a:r>
          </a:p>
        </p:txBody>
      </p:sp>
      <p:sp>
        <p:nvSpPr>
          <p:cNvPr id="28" name="Rectangle 27"/>
          <p:cNvSpPr/>
          <p:nvPr/>
        </p:nvSpPr>
        <p:spPr>
          <a:xfrm>
            <a:off x="3685032" y="3922776"/>
            <a:ext cx="2971800" cy="512064"/>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9040" y="4014215"/>
            <a:ext cx="2843784" cy="365760"/>
          </a:xfrm>
          <a:prstGeom prst="rect">
            <a:avLst/>
          </a:prstGeom>
          <a:noFill/>
        </p:spPr>
        <p:txBody>
          <a:bodyPr wrap="square" lIns="0" rIns="0" tIns="0" bIns="0" anchor="ctr">
            <a:normAutofit/>
          </a:bodyPr>
          <a:lstStyle/>
          <a:p>
            <a:pPr algn="ctr"/>
            <a:r>
              <a:rPr sz="980" b="0">
                <a:solidFill>
                  <a:srgbClr val="172033"/>
                </a:solidFill>
                <a:latin typeface="Malgun Gothic"/>
              </a:rPr>
              <a:t>[표 5] 조치계획</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PROMPT</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표 번호 +1 프롬프트</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2단계</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45</a:t>
            </a:r>
          </a:p>
        </p:txBody>
      </p:sp>
      <p:sp>
        <p:nvSpPr>
          <p:cNvPr id="9" name="Rounded Rectangle 8"/>
          <p:cNvSpPr/>
          <p:nvPr/>
        </p:nvSpPr>
        <p:spPr>
          <a:xfrm>
            <a:off x="713232" y="1234440"/>
            <a:ext cx="6629400" cy="457200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344168"/>
            <a:ext cx="6336792" cy="4361688"/>
          </a:xfrm>
          <a:prstGeom prst="rect">
            <a:avLst/>
          </a:prstGeom>
          <a:noFill/>
        </p:spPr>
        <p:txBody>
          <a:bodyPr wrap="square" lIns="0" rIns="0" tIns="0" bIns="0">
            <a:normAutofit/>
          </a:bodyPr>
          <a:lstStyle/>
          <a:p>
            <a:r>
              <a:rPr sz="1040" b="0">
                <a:solidFill>
                  <a:srgbClr val="EEF4FA"/>
                </a:solidFill>
                <a:latin typeface="Consolas"/>
              </a:rPr>
              <a:t>sample_report.txt에서 [표 숫자] 제목 형식의 표 번호를
수정하는 파이썬 코드를 만들어줘.
조건
1. 시작 번호를 3으로 정한다.
2. 표 번호가 3 이상이면 +1 한다.
3. 수정 결과는 sample_report_updated.txt로 저장한다.
4. 초보자도 이해할 수 있게 주석을 달아준다.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CODE</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표 번호 +1 코드</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2단계</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46</a:t>
            </a:r>
          </a:p>
        </p:txBody>
      </p:sp>
      <p:sp>
        <p:nvSpPr>
          <p:cNvPr id="9" name="Rounded Rectangle 8"/>
          <p:cNvSpPr/>
          <p:nvPr/>
        </p:nvSpPr>
        <p:spPr>
          <a:xfrm>
            <a:off x="713232" y="1234440"/>
            <a:ext cx="6629400" cy="457200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344168"/>
            <a:ext cx="6336792" cy="4361688"/>
          </a:xfrm>
          <a:prstGeom prst="rect">
            <a:avLst/>
          </a:prstGeom>
          <a:noFill/>
        </p:spPr>
        <p:txBody>
          <a:bodyPr wrap="square" lIns="0" rIns="0" tIns="0" bIns="0">
            <a:normAutofit/>
          </a:bodyPr>
          <a:lstStyle/>
          <a:p>
            <a:r>
              <a:rPr sz="1040" b="0">
                <a:solidFill>
                  <a:srgbClr val="EEF4FA"/>
                </a:solidFill>
                <a:latin typeface="Consolas"/>
              </a:rPr>
              <a:t>start_no = 3
shift = 1
for line in lines:
    stripped = line.strip()
    match = pattern.match(stripped)
    if match:
        table_no = int(match.group(1))
        title = match.group(2)
        if table_no &gt;= start_no:
            table_no = table_no + shift
        updated_lines.append(f"[표 {table_no}] {title}\n")
    else:
        updated_lines.append(line)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STEP 3</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GUI 만들기</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매번 코드에서 start_no를 고치지 않도록 화면을 만듭니다.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3단계</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47</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시작 번호 입력칸</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n+ 버튼</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n- 버튼</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실행 결과 메시지</a:t>
            </a:r>
          </a:p>
        </p:txBody>
      </p:sp>
      <p:sp>
        <p:nvSpPr>
          <p:cNvPr id="18" name="TextBox 17"/>
          <p:cNvSpPr txBox="1"/>
          <p:nvPr/>
        </p:nvSpPr>
        <p:spPr>
          <a:xfrm>
            <a:off x="804672" y="3685032"/>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9" name="TextBox 18"/>
          <p:cNvSpPr txBox="1"/>
          <p:nvPr/>
        </p:nvSpPr>
        <p:spPr>
          <a:xfrm>
            <a:off x="1097280" y="3685032"/>
            <a:ext cx="5742431" cy="310896"/>
          </a:xfrm>
          <a:prstGeom prst="rect">
            <a:avLst/>
          </a:prstGeom>
          <a:noFill/>
        </p:spPr>
        <p:txBody>
          <a:bodyPr wrap="square" lIns="0" rIns="0" tIns="0" bIns="0">
            <a:normAutofit/>
          </a:bodyPr>
          <a:lstStyle/>
          <a:p>
            <a:r>
              <a:rPr sz="1450" b="0">
                <a:solidFill>
                  <a:srgbClr val="172033"/>
                </a:solidFill>
                <a:latin typeface="Malgun Gothic"/>
              </a:rPr>
              <a:t>tkinter로 간단한 업무용 창 제작</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PROMPT</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GUI 제작 프롬프트</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3단계</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48</a:t>
            </a:r>
          </a:p>
        </p:txBody>
      </p:sp>
      <p:sp>
        <p:nvSpPr>
          <p:cNvPr id="9" name="Rounded Rectangle 8"/>
          <p:cNvSpPr/>
          <p:nvPr/>
        </p:nvSpPr>
        <p:spPr>
          <a:xfrm>
            <a:off x="786384" y="1417320"/>
            <a:ext cx="6126480" cy="384048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527048"/>
            <a:ext cx="5833872" cy="3630168"/>
          </a:xfrm>
          <a:prstGeom prst="rect">
            <a:avLst/>
          </a:prstGeom>
          <a:noFill/>
        </p:spPr>
        <p:txBody>
          <a:bodyPr wrap="square" lIns="0" rIns="0" tIns="0" bIns="0">
            <a:normAutofit/>
          </a:bodyPr>
          <a:lstStyle/>
          <a:p>
            <a:r>
              <a:rPr sz="1150" b="0">
                <a:solidFill>
                  <a:srgbClr val="EEF4FA"/>
                </a:solidFill>
                <a:latin typeface="Consolas"/>
              </a:rPr>
              <a:t>방금 만든 표 번호 수정 코드를 tkinter GUI로 바꿔줘.
조건
1. 시작 번호를 입력할 수 있게 해줘.
2. n+ 버튼을 누르면 해당 번호 이상을 +1 해줘.
3. n- 버튼을 누르면 해당 번호 이상을 -1 해줘.
4. 결과 파일은 sample_report_updated.txt로 저장해줘.
5. 초보자도 이해할 수 있게 주석을 달아줘.</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CODE</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GUI 기본 코드 구조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3869250096611937899.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3단계</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49</a:t>
            </a:r>
          </a:p>
        </p:txBody>
      </p:sp>
      <p:sp>
        <p:nvSpPr>
          <p:cNvPr id="9" name="Rounded Rectangle 8"/>
          <p:cNvSpPr/>
          <p:nvPr/>
        </p:nvSpPr>
        <p:spPr>
          <a:xfrm>
            <a:off x="713232" y="1115568"/>
            <a:ext cx="6629400" cy="498348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225295"/>
            <a:ext cx="6336792" cy="4773168"/>
          </a:xfrm>
          <a:prstGeom prst="rect">
            <a:avLst/>
          </a:prstGeom>
          <a:noFill/>
        </p:spPr>
        <p:txBody>
          <a:bodyPr wrap="square" lIns="0" rIns="0" tIns="0" bIns="0">
            <a:normAutofit/>
          </a:bodyPr>
          <a:lstStyle/>
          <a:p>
            <a:r>
              <a:rPr sz="980" b="0">
                <a:solidFill>
                  <a:srgbClr val="EEF4FA"/>
                </a:solidFill>
                <a:latin typeface="Consolas"/>
              </a:rPr>
              <a:t>import tkinter as tk
from tkinter import messagebox
def update_table_numbers(shift):
    start_no = int(entry_start_no.get())
    messagebox.showinfo("완료", "수정 완료")
root = tk.Tk()
root.title("표도우미 연습")
entry_start_no = tk.Entry(root)
entry_start_no.pack()
tk.Button(root, text="n+", command=lambda: update_table_numbers(1)).pack()
tk.Button(root, text="n-", command=lambda: update_table_numbers(-1)).pack()
root.mainloop()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STEP 4</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한글 문서와 연결하기</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여기서부터는 난이도가 올라갑니다.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7272938572542561694.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4단계</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50</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한글 문서에서 본문 텍스트 추출</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[표 숫자] 제목 찾기</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목록 표시</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사용자 선택</a:t>
            </a:r>
          </a:p>
        </p:txBody>
      </p:sp>
      <p:sp>
        <p:nvSpPr>
          <p:cNvPr id="18" name="TextBox 17"/>
          <p:cNvSpPr txBox="1"/>
          <p:nvPr/>
        </p:nvSpPr>
        <p:spPr>
          <a:xfrm>
            <a:off x="804672" y="3685032"/>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9" name="TextBox 18"/>
          <p:cNvSpPr txBox="1"/>
          <p:nvPr/>
        </p:nvSpPr>
        <p:spPr>
          <a:xfrm>
            <a:off x="1097280" y="3685032"/>
            <a:ext cx="5742431" cy="310896"/>
          </a:xfrm>
          <a:prstGeom prst="rect">
            <a:avLst/>
          </a:prstGeom>
          <a:noFill/>
        </p:spPr>
        <p:txBody>
          <a:bodyPr wrap="square" lIns="0" rIns="0" tIns="0" bIns="0">
            <a:normAutofit/>
          </a:bodyPr>
          <a:lstStyle/>
          <a:p>
            <a:r>
              <a:rPr sz="1450" b="0">
                <a:solidFill>
                  <a:srgbClr val="172033"/>
                </a:solidFill>
                <a:latin typeface="Malgun Gothic"/>
              </a:rPr>
              <a:t>번호 수정 명령 생성</a:t>
            </a:r>
          </a:p>
        </p:txBody>
      </p:sp>
      <p:sp>
        <p:nvSpPr>
          <p:cNvPr id="20" name="TextBox 19"/>
          <p:cNvSpPr txBox="1"/>
          <p:nvPr/>
        </p:nvSpPr>
        <p:spPr>
          <a:xfrm>
            <a:off x="804672" y="416052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21" name="TextBox 20"/>
          <p:cNvSpPr txBox="1"/>
          <p:nvPr/>
        </p:nvSpPr>
        <p:spPr>
          <a:xfrm>
            <a:off x="1097280" y="4160520"/>
            <a:ext cx="5742431" cy="310896"/>
          </a:xfrm>
          <a:prstGeom prst="rect">
            <a:avLst/>
          </a:prstGeom>
          <a:noFill/>
        </p:spPr>
        <p:txBody>
          <a:bodyPr wrap="square" lIns="0" rIns="0" tIns="0" bIns="0">
            <a:normAutofit/>
          </a:bodyPr>
          <a:lstStyle/>
          <a:p>
            <a:r>
              <a:rPr sz="1450" b="0">
                <a:solidFill>
                  <a:srgbClr val="172033"/>
                </a:solidFill>
                <a:latin typeface="Malgun Gothic"/>
              </a:rPr>
              <a:t>한글 문서에 반영</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HWP AUTOMATION</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한글 자동화에서 자주 만나는 문제</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오류가 생기면 단계별로 원인을 분리해야 합니다.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8178971494002343095.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주의점</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51</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한글 프로그램이 열려 있지 않음</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열려 있는 한글 객체를 못 찾음</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문서가 저장되지 않은 상태</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본문은 읽었지만 위치 이동 실패</a:t>
            </a:r>
          </a:p>
        </p:txBody>
      </p:sp>
      <p:sp>
        <p:nvSpPr>
          <p:cNvPr id="18" name="TextBox 17"/>
          <p:cNvSpPr txBox="1"/>
          <p:nvPr/>
        </p:nvSpPr>
        <p:spPr>
          <a:xfrm>
            <a:off x="804672" y="3685032"/>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9" name="TextBox 18"/>
          <p:cNvSpPr txBox="1"/>
          <p:nvPr/>
        </p:nvSpPr>
        <p:spPr>
          <a:xfrm>
            <a:off x="1097280" y="3685032"/>
            <a:ext cx="5742431" cy="310896"/>
          </a:xfrm>
          <a:prstGeom prst="rect">
            <a:avLst/>
          </a:prstGeom>
          <a:noFill/>
        </p:spPr>
        <p:txBody>
          <a:bodyPr wrap="square" lIns="0" rIns="0" tIns="0" bIns="0">
            <a:normAutofit/>
          </a:bodyPr>
          <a:lstStyle/>
          <a:p>
            <a:r>
              <a:rPr sz="1450" b="0">
                <a:solidFill>
                  <a:srgbClr val="172033"/>
                </a:solidFill>
                <a:latin typeface="Malgun Gothic"/>
              </a:rPr>
              <a:t>같은 표 번호가 여러 개 있음</a:t>
            </a:r>
          </a:p>
        </p:txBody>
      </p:sp>
      <p:sp>
        <p:nvSpPr>
          <p:cNvPr id="20" name="TextBox 19"/>
          <p:cNvSpPr txBox="1"/>
          <p:nvPr/>
        </p:nvSpPr>
        <p:spPr>
          <a:xfrm>
            <a:off x="804672" y="416052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21" name="TextBox 20"/>
          <p:cNvSpPr txBox="1"/>
          <p:nvPr/>
        </p:nvSpPr>
        <p:spPr>
          <a:xfrm>
            <a:off x="1097280" y="4160520"/>
            <a:ext cx="5742431" cy="310896"/>
          </a:xfrm>
          <a:prstGeom prst="rect">
            <a:avLst/>
          </a:prstGeom>
          <a:noFill/>
        </p:spPr>
        <p:txBody>
          <a:bodyPr wrap="square" lIns="0" rIns="0" tIns="0" bIns="0">
            <a:normAutofit/>
          </a:bodyPr>
          <a:lstStyle/>
          <a:p>
            <a:r>
              <a:rPr sz="1450" b="0">
                <a:solidFill>
                  <a:srgbClr val="172033"/>
                </a:solidFill>
                <a:latin typeface="Malgun Gothic"/>
              </a:rPr>
              <a:t>표 내부 텍스트와 본문 제목 구분 필요</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PROMPT 1</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표도우미 요구사항 정리 프롬프트</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프롬프트</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52</a:t>
            </a:r>
          </a:p>
        </p:txBody>
      </p:sp>
      <p:sp>
        <p:nvSpPr>
          <p:cNvPr id="9" name="Rounded Rectangle 8"/>
          <p:cNvSpPr/>
          <p:nvPr/>
        </p:nvSpPr>
        <p:spPr>
          <a:xfrm>
            <a:off x="749808" y="1234440"/>
            <a:ext cx="6400800" cy="457200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44168"/>
            <a:ext cx="6108192" cy="4361688"/>
          </a:xfrm>
          <a:prstGeom prst="rect">
            <a:avLst/>
          </a:prstGeom>
          <a:noFill/>
        </p:spPr>
        <p:txBody>
          <a:bodyPr wrap="square" lIns="0" rIns="0" tIns="0" bIns="0">
            <a:normAutofit/>
          </a:bodyPr>
          <a:lstStyle/>
          <a:p>
            <a:r>
              <a:rPr sz="1040" b="0">
                <a:solidFill>
                  <a:srgbClr val="EEF4FA"/>
                </a:solidFill>
                <a:latin typeface="Consolas"/>
              </a:rPr>
              <a:t>Windows에서 Python으로 한글 문서의 표 번호를 관리하는 도구를
만들고 싶어.
최종 목표
1. 현재 열려 있는 한글 문서에서 본문 텍스트를 가져온다.
2. 본문에서 [표 숫자] 제목 형식의 문단을 찾는다.
3. 찾은 표 제목을 GUI 목록으로 보여준다.
4. 시작 번호 입력 후 n+ 또는 n-를 실행한다.
5. [표 0]은 새로 삽입한 표로 별도 처리한다.
6. 같은 번호가 여러 개 있을 수 있으므로 출현 순서와 위치를 관리한다.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PROMPT 2</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오류를 알려주는 법</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프롬프트</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53</a:t>
            </a:r>
          </a:p>
        </p:txBody>
      </p:sp>
      <p:sp>
        <p:nvSpPr>
          <p:cNvPr id="9" name="Rounded Rectangle 8"/>
          <p:cNvSpPr/>
          <p:nvPr/>
        </p:nvSpPr>
        <p:spPr>
          <a:xfrm>
            <a:off x="749808" y="1234440"/>
            <a:ext cx="6400800" cy="457200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44168"/>
            <a:ext cx="6108192" cy="4361688"/>
          </a:xfrm>
          <a:prstGeom prst="rect">
            <a:avLst/>
          </a:prstGeom>
          <a:noFill/>
        </p:spPr>
        <p:txBody>
          <a:bodyPr wrap="square" lIns="0" rIns="0" tIns="0" bIns="0">
            <a:normAutofit/>
          </a:bodyPr>
          <a:lstStyle/>
          <a:p>
            <a:r>
              <a:rPr sz="1040" b="0">
                <a:solidFill>
                  <a:srgbClr val="EEF4FA"/>
                </a:solidFill>
                <a:latin typeface="Consolas"/>
              </a:rPr>
              <a:t>아래 오류가 발생했어.
오류 메시지:
-2147023174 RPC 서버를 사용할 수 없습니다.
상황:
1. 한글 문서는 열려 있었어.
2. 프로그램 실행 후 한글 연결이 끊기는 것 같아.
3. 본문 읽기 전 단계에서 실패한 것 같아.
원인을 경우별로 나눠서 설명하고,
현재 열려 있는 한글 객체를 다시 찾는 방식으로 수정해줘.</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PROMPT 3</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기능 개선 요청하기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프롬프트</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54</a:t>
            </a:r>
          </a:p>
        </p:txBody>
      </p:sp>
      <p:sp>
        <p:nvSpPr>
          <p:cNvPr id="9" name="Rounded Rectangle 8"/>
          <p:cNvSpPr/>
          <p:nvPr/>
        </p:nvSpPr>
        <p:spPr>
          <a:xfrm>
            <a:off x="749808" y="1234440"/>
            <a:ext cx="6400800" cy="457200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44168"/>
            <a:ext cx="6108192" cy="4361688"/>
          </a:xfrm>
          <a:prstGeom prst="rect">
            <a:avLst/>
          </a:prstGeom>
          <a:noFill/>
        </p:spPr>
        <p:txBody>
          <a:bodyPr wrap="square" lIns="0" rIns="0" tIns="0" bIns="0">
            <a:normAutofit/>
          </a:bodyPr>
          <a:lstStyle/>
          <a:p>
            <a:r>
              <a:rPr sz="1040" b="0">
                <a:solidFill>
                  <a:srgbClr val="EEF4FA"/>
                </a:solidFill>
                <a:latin typeface="Consolas"/>
              </a:rPr>
              <a:t>현재 프로그램은 n+ 실행 후 프로그램이 종료돼서 불편해.
원하는 동작
1. n+ 또는 n- 실행 후에도 GUI 창은 닫히지 않게 해줘.
2. 실행 후 목록을 자동으로 갱신해줘.
3. 저장 버튼과 닫기 버튼은 아래쪽에 배치해줘.
4. 표 0 삽입 처리, n+, n- 버튼은 위쪽에 배치해줘.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PROMPT 4</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예외 처리 요청하기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81862389657381012.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프롬프트</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55</a:t>
            </a:r>
          </a:p>
        </p:txBody>
      </p:sp>
      <p:sp>
        <p:nvSpPr>
          <p:cNvPr id="9" name="Rounded Rectangle 8"/>
          <p:cNvSpPr/>
          <p:nvPr/>
        </p:nvSpPr>
        <p:spPr>
          <a:xfrm>
            <a:off x="749808" y="1234440"/>
            <a:ext cx="6400800" cy="4572000"/>
          </a:xfrm>
          <a:prstGeom prst="roundRect">
            <a:avLst/>
          </a:prstGeom>
          <a:solidFill>
            <a:srgbClr val="111827"/>
          </a:solidFill>
          <a:ln w="10160">
            <a:solidFill>
              <a:srgbClr val="2D3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44168"/>
            <a:ext cx="6108192" cy="4361688"/>
          </a:xfrm>
          <a:prstGeom prst="rect">
            <a:avLst/>
          </a:prstGeom>
          <a:noFill/>
        </p:spPr>
        <p:txBody>
          <a:bodyPr wrap="square" lIns="0" rIns="0" tIns="0" bIns="0">
            <a:normAutofit/>
          </a:bodyPr>
          <a:lstStyle/>
          <a:p>
            <a:r>
              <a:rPr sz="1040" b="0">
                <a:solidFill>
                  <a:srgbClr val="EEF4FA"/>
                </a:solidFill>
                <a:latin typeface="Consolas"/>
              </a:rPr>
              <a:t>같은 번호의 표가 여러 개 있을 수 있어.
예를 들어 본문에 [표 2]가 두 개 있을 때, 앞의 [표 2]는
그대로 두고 뒤의 [표 2]만 [표 3]으로 바꾸고 싶어.
단순히 번호만 기준으로 바꾸면 앞의 표까지 같이 바뀌는
문제가 생겨.
표 번호뿐 아니라 문서에서 몇 번째로 출현했는지와 위치 정보를
함께 관리하도록 수정해줘.</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STRUCTURE</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표도우미 중급 과정의 핵심 구조</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7272938572542561694.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구조</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56</a:t>
            </a:r>
          </a:p>
        </p:txBody>
      </p:sp>
      <p:sp>
        <p:nvSpPr>
          <p:cNvPr id="9" name="Rounded Rectangle 8"/>
          <p:cNvSpPr/>
          <p:nvPr/>
        </p:nvSpPr>
        <p:spPr>
          <a:xfrm>
            <a:off x="804672" y="123444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344168"/>
            <a:ext cx="256032" cy="164592"/>
          </a:xfrm>
          <a:prstGeom prst="rect">
            <a:avLst/>
          </a:prstGeom>
          <a:noFill/>
        </p:spPr>
        <p:txBody>
          <a:bodyPr wrap="square" lIns="0" rIns="0" tIns="0" bIns="0">
            <a:normAutofit/>
          </a:bodyPr>
          <a:lstStyle/>
          <a:p>
            <a:r>
              <a:rPr sz="1100" b="1">
                <a:solidFill>
                  <a:srgbClr val="D8A94A"/>
                </a:solidFill>
                <a:latin typeface="Malgun Gothic"/>
              </a:rPr>
              <a:t>1</a:t>
            </a:r>
          </a:p>
        </p:txBody>
      </p:sp>
      <p:sp>
        <p:nvSpPr>
          <p:cNvPr id="11" name="TextBox 10"/>
          <p:cNvSpPr txBox="1"/>
          <p:nvPr/>
        </p:nvSpPr>
        <p:spPr>
          <a:xfrm>
            <a:off x="1280160" y="1344168"/>
            <a:ext cx="5422392" cy="164592"/>
          </a:xfrm>
          <a:prstGeom prst="rect">
            <a:avLst/>
          </a:prstGeom>
          <a:noFill/>
        </p:spPr>
        <p:txBody>
          <a:bodyPr wrap="square" lIns="0" rIns="0" tIns="0" bIns="0">
            <a:normAutofit/>
          </a:bodyPr>
          <a:lstStyle/>
          <a:p>
            <a:r>
              <a:rPr sz="1150" b="1">
                <a:solidFill>
                  <a:srgbClr val="092642"/>
                </a:solidFill>
                <a:latin typeface="Malgun Gothic"/>
              </a:rPr>
              <a:t>텍스트에서 [표 n] 찾기</a:t>
            </a:r>
          </a:p>
        </p:txBody>
      </p:sp>
      <p:sp>
        <p:nvSpPr>
          <p:cNvPr id="12" name="Rounded Rectangle 11"/>
          <p:cNvSpPr/>
          <p:nvPr/>
        </p:nvSpPr>
        <p:spPr>
          <a:xfrm>
            <a:off x="804672" y="1764792"/>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1874520"/>
            <a:ext cx="256032" cy="164592"/>
          </a:xfrm>
          <a:prstGeom prst="rect">
            <a:avLst/>
          </a:prstGeom>
          <a:noFill/>
        </p:spPr>
        <p:txBody>
          <a:bodyPr wrap="square" lIns="0" rIns="0" tIns="0" bIns="0">
            <a:normAutofit/>
          </a:bodyPr>
          <a:lstStyle/>
          <a:p>
            <a:r>
              <a:rPr sz="1100" b="1">
                <a:solidFill>
                  <a:srgbClr val="D8A94A"/>
                </a:solidFill>
                <a:latin typeface="Malgun Gothic"/>
              </a:rPr>
              <a:t>2</a:t>
            </a:r>
          </a:p>
        </p:txBody>
      </p:sp>
      <p:sp>
        <p:nvSpPr>
          <p:cNvPr id="14" name="TextBox 13"/>
          <p:cNvSpPr txBox="1"/>
          <p:nvPr/>
        </p:nvSpPr>
        <p:spPr>
          <a:xfrm>
            <a:off x="1280160" y="1874520"/>
            <a:ext cx="5422392" cy="164592"/>
          </a:xfrm>
          <a:prstGeom prst="rect">
            <a:avLst/>
          </a:prstGeom>
          <a:noFill/>
        </p:spPr>
        <p:txBody>
          <a:bodyPr wrap="square" lIns="0" rIns="0" tIns="0" bIns="0">
            <a:normAutofit/>
          </a:bodyPr>
          <a:lstStyle/>
          <a:p>
            <a:r>
              <a:rPr sz="1150" b="1">
                <a:solidFill>
                  <a:srgbClr val="092642"/>
                </a:solidFill>
                <a:latin typeface="Malgun Gothic"/>
              </a:rPr>
              <a:t>표 번호 +1, -1 처리하기</a:t>
            </a:r>
          </a:p>
        </p:txBody>
      </p:sp>
      <p:sp>
        <p:nvSpPr>
          <p:cNvPr id="15" name="Rounded Rectangle 14"/>
          <p:cNvSpPr/>
          <p:nvPr/>
        </p:nvSpPr>
        <p:spPr>
          <a:xfrm>
            <a:off x="804672" y="2295144"/>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404872"/>
            <a:ext cx="256032" cy="164592"/>
          </a:xfrm>
          <a:prstGeom prst="rect">
            <a:avLst/>
          </a:prstGeom>
          <a:noFill/>
        </p:spPr>
        <p:txBody>
          <a:bodyPr wrap="square" lIns="0" rIns="0" tIns="0" bIns="0">
            <a:normAutofit/>
          </a:bodyPr>
          <a:lstStyle/>
          <a:p>
            <a:r>
              <a:rPr sz="1100" b="1">
                <a:solidFill>
                  <a:srgbClr val="D8A94A"/>
                </a:solidFill>
                <a:latin typeface="Malgun Gothic"/>
              </a:rPr>
              <a:t>3</a:t>
            </a:r>
          </a:p>
        </p:txBody>
      </p:sp>
      <p:sp>
        <p:nvSpPr>
          <p:cNvPr id="17" name="TextBox 16"/>
          <p:cNvSpPr txBox="1"/>
          <p:nvPr/>
        </p:nvSpPr>
        <p:spPr>
          <a:xfrm>
            <a:off x="1280160" y="2404872"/>
            <a:ext cx="5422392" cy="164592"/>
          </a:xfrm>
          <a:prstGeom prst="rect">
            <a:avLst/>
          </a:prstGeom>
          <a:noFill/>
        </p:spPr>
        <p:txBody>
          <a:bodyPr wrap="square" lIns="0" rIns="0" tIns="0" bIns="0">
            <a:normAutofit/>
          </a:bodyPr>
          <a:lstStyle/>
          <a:p>
            <a:r>
              <a:rPr sz="1150" b="1">
                <a:solidFill>
                  <a:srgbClr val="092642"/>
                </a:solidFill>
                <a:latin typeface="Malgun Gothic"/>
              </a:rPr>
              <a:t>GUI 만들기</a:t>
            </a:r>
          </a:p>
        </p:txBody>
      </p:sp>
      <p:sp>
        <p:nvSpPr>
          <p:cNvPr id="18" name="Rounded Rectangle 17"/>
          <p:cNvSpPr/>
          <p:nvPr/>
        </p:nvSpPr>
        <p:spPr>
          <a:xfrm>
            <a:off x="804672" y="2825496"/>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2935224"/>
            <a:ext cx="256032" cy="164592"/>
          </a:xfrm>
          <a:prstGeom prst="rect">
            <a:avLst/>
          </a:prstGeom>
          <a:noFill/>
        </p:spPr>
        <p:txBody>
          <a:bodyPr wrap="square" lIns="0" rIns="0" tIns="0" bIns="0">
            <a:normAutofit/>
          </a:bodyPr>
          <a:lstStyle/>
          <a:p>
            <a:r>
              <a:rPr sz="1100" b="1">
                <a:solidFill>
                  <a:srgbClr val="D8A94A"/>
                </a:solidFill>
                <a:latin typeface="Malgun Gothic"/>
              </a:rPr>
              <a:t>4</a:t>
            </a:r>
          </a:p>
        </p:txBody>
      </p:sp>
      <p:sp>
        <p:nvSpPr>
          <p:cNvPr id="20" name="TextBox 19"/>
          <p:cNvSpPr txBox="1"/>
          <p:nvPr/>
        </p:nvSpPr>
        <p:spPr>
          <a:xfrm>
            <a:off x="1280160" y="2935224"/>
            <a:ext cx="5422392" cy="164592"/>
          </a:xfrm>
          <a:prstGeom prst="rect">
            <a:avLst/>
          </a:prstGeom>
          <a:noFill/>
        </p:spPr>
        <p:txBody>
          <a:bodyPr wrap="square" lIns="0" rIns="0" tIns="0" bIns="0">
            <a:normAutofit/>
          </a:bodyPr>
          <a:lstStyle/>
          <a:p>
            <a:r>
              <a:rPr sz="1150" b="1">
                <a:solidFill>
                  <a:srgbClr val="092642"/>
                </a:solidFill>
                <a:latin typeface="Malgun Gothic"/>
              </a:rPr>
              <a:t>한글 문서 텍스트 추출하기</a:t>
            </a:r>
          </a:p>
        </p:txBody>
      </p:sp>
      <p:sp>
        <p:nvSpPr>
          <p:cNvPr id="21" name="Rounded Rectangle 20"/>
          <p:cNvSpPr/>
          <p:nvPr/>
        </p:nvSpPr>
        <p:spPr>
          <a:xfrm>
            <a:off x="804672" y="3355848"/>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465576"/>
            <a:ext cx="256032" cy="164592"/>
          </a:xfrm>
          <a:prstGeom prst="rect">
            <a:avLst/>
          </a:prstGeom>
          <a:noFill/>
        </p:spPr>
        <p:txBody>
          <a:bodyPr wrap="square" lIns="0" rIns="0" tIns="0" bIns="0">
            <a:normAutofit/>
          </a:bodyPr>
          <a:lstStyle/>
          <a:p>
            <a:r>
              <a:rPr sz="1100" b="1">
                <a:solidFill>
                  <a:srgbClr val="D8A94A"/>
                </a:solidFill>
                <a:latin typeface="Malgun Gothic"/>
              </a:rPr>
              <a:t>5</a:t>
            </a:r>
          </a:p>
        </p:txBody>
      </p:sp>
      <p:sp>
        <p:nvSpPr>
          <p:cNvPr id="23" name="TextBox 22"/>
          <p:cNvSpPr txBox="1"/>
          <p:nvPr/>
        </p:nvSpPr>
        <p:spPr>
          <a:xfrm>
            <a:off x="1280160" y="3465576"/>
            <a:ext cx="5422392" cy="164592"/>
          </a:xfrm>
          <a:prstGeom prst="rect">
            <a:avLst/>
          </a:prstGeom>
          <a:noFill/>
        </p:spPr>
        <p:txBody>
          <a:bodyPr wrap="square" lIns="0" rIns="0" tIns="0" bIns="0">
            <a:normAutofit/>
          </a:bodyPr>
          <a:lstStyle/>
          <a:p>
            <a:r>
              <a:rPr sz="1150" b="1">
                <a:solidFill>
                  <a:srgbClr val="092642"/>
                </a:solidFill>
                <a:latin typeface="Malgun Gothic"/>
              </a:rPr>
              <a:t>한글 문서 위치 정보 관리하기</a:t>
            </a:r>
          </a:p>
        </p:txBody>
      </p:sp>
      <p:sp>
        <p:nvSpPr>
          <p:cNvPr id="24" name="Rounded Rectangle 23"/>
          <p:cNvSpPr/>
          <p:nvPr/>
        </p:nvSpPr>
        <p:spPr>
          <a:xfrm>
            <a:off x="804672" y="3886200"/>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3995928"/>
            <a:ext cx="256032" cy="164592"/>
          </a:xfrm>
          <a:prstGeom prst="rect">
            <a:avLst/>
          </a:prstGeom>
          <a:noFill/>
        </p:spPr>
        <p:txBody>
          <a:bodyPr wrap="square" lIns="0" rIns="0" tIns="0" bIns="0">
            <a:normAutofit/>
          </a:bodyPr>
          <a:lstStyle/>
          <a:p>
            <a:r>
              <a:rPr sz="1100" b="1">
                <a:solidFill>
                  <a:srgbClr val="D8A94A"/>
                </a:solidFill>
                <a:latin typeface="Malgun Gothic"/>
              </a:rPr>
              <a:t>6</a:t>
            </a:r>
          </a:p>
        </p:txBody>
      </p:sp>
      <p:sp>
        <p:nvSpPr>
          <p:cNvPr id="26" name="TextBox 25"/>
          <p:cNvSpPr txBox="1"/>
          <p:nvPr/>
        </p:nvSpPr>
        <p:spPr>
          <a:xfrm>
            <a:off x="1280160" y="3995928"/>
            <a:ext cx="5422392" cy="164592"/>
          </a:xfrm>
          <a:prstGeom prst="rect">
            <a:avLst/>
          </a:prstGeom>
          <a:noFill/>
        </p:spPr>
        <p:txBody>
          <a:bodyPr wrap="square" lIns="0" rIns="0" tIns="0" bIns="0">
            <a:normAutofit/>
          </a:bodyPr>
          <a:lstStyle/>
          <a:p>
            <a:r>
              <a:rPr sz="1150" b="1">
                <a:solidFill>
                  <a:srgbClr val="092642"/>
                </a:solidFill>
                <a:latin typeface="Malgun Gothic"/>
              </a:rPr>
              <a:t>본문 수정 반영하기</a:t>
            </a:r>
          </a:p>
        </p:txBody>
      </p:sp>
      <p:sp>
        <p:nvSpPr>
          <p:cNvPr id="27" name="Rounded Rectangle 26"/>
          <p:cNvSpPr/>
          <p:nvPr/>
        </p:nvSpPr>
        <p:spPr>
          <a:xfrm>
            <a:off x="804672" y="4416552"/>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4526280"/>
            <a:ext cx="256032" cy="164592"/>
          </a:xfrm>
          <a:prstGeom prst="rect">
            <a:avLst/>
          </a:prstGeom>
          <a:noFill/>
        </p:spPr>
        <p:txBody>
          <a:bodyPr wrap="square" lIns="0" rIns="0" tIns="0" bIns="0">
            <a:normAutofit/>
          </a:bodyPr>
          <a:lstStyle/>
          <a:p>
            <a:r>
              <a:rPr sz="1100" b="1">
                <a:solidFill>
                  <a:srgbClr val="D8A94A"/>
                </a:solidFill>
                <a:latin typeface="Malgun Gothic"/>
              </a:rPr>
              <a:t>7</a:t>
            </a:r>
          </a:p>
        </p:txBody>
      </p:sp>
      <p:sp>
        <p:nvSpPr>
          <p:cNvPr id="29" name="TextBox 28"/>
          <p:cNvSpPr txBox="1"/>
          <p:nvPr/>
        </p:nvSpPr>
        <p:spPr>
          <a:xfrm>
            <a:off x="1280160" y="4526280"/>
            <a:ext cx="5422392" cy="164592"/>
          </a:xfrm>
          <a:prstGeom prst="rect">
            <a:avLst/>
          </a:prstGeom>
          <a:noFill/>
        </p:spPr>
        <p:txBody>
          <a:bodyPr wrap="square" lIns="0" rIns="0" tIns="0" bIns="0">
            <a:normAutofit/>
          </a:bodyPr>
          <a:lstStyle/>
          <a:p>
            <a:r>
              <a:rPr sz="1150" b="1">
                <a:solidFill>
                  <a:srgbClr val="092642"/>
                </a:solidFill>
                <a:latin typeface="Malgun Gothic"/>
              </a:rPr>
              <a:t>오류 메시지 기반으로 개선하기</a:t>
            </a:r>
          </a:p>
        </p:txBody>
      </p:sp>
      <p:sp>
        <p:nvSpPr>
          <p:cNvPr id="30" name="Rounded Rectangle 29"/>
          <p:cNvSpPr/>
          <p:nvPr/>
        </p:nvSpPr>
        <p:spPr>
          <a:xfrm>
            <a:off x="804672" y="4946904"/>
            <a:ext cx="5989320" cy="438912"/>
          </a:xfrm>
          <a:prstGeom prst="roundRect">
            <a:avLst/>
          </a:prstGeom>
          <a:solidFill>
            <a:srgbClr val="EEF4F9"/>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 y="5056632"/>
            <a:ext cx="256032" cy="164592"/>
          </a:xfrm>
          <a:prstGeom prst="rect">
            <a:avLst/>
          </a:prstGeom>
          <a:noFill/>
        </p:spPr>
        <p:txBody>
          <a:bodyPr wrap="square" lIns="0" rIns="0" tIns="0" bIns="0">
            <a:normAutofit/>
          </a:bodyPr>
          <a:lstStyle/>
          <a:p>
            <a:r>
              <a:rPr sz="1100" b="1">
                <a:solidFill>
                  <a:srgbClr val="D8A94A"/>
                </a:solidFill>
                <a:latin typeface="Malgun Gothic"/>
              </a:rPr>
              <a:t>8</a:t>
            </a:r>
          </a:p>
        </p:txBody>
      </p:sp>
      <p:sp>
        <p:nvSpPr>
          <p:cNvPr id="32" name="TextBox 31"/>
          <p:cNvSpPr txBox="1"/>
          <p:nvPr/>
        </p:nvSpPr>
        <p:spPr>
          <a:xfrm>
            <a:off x="1280160" y="5056632"/>
            <a:ext cx="5422392" cy="164592"/>
          </a:xfrm>
          <a:prstGeom prst="rect">
            <a:avLst/>
          </a:prstGeom>
          <a:noFill/>
        </p:spPr>
        <p:txBody>
          <a:bodyPr wrap="square" lIns="0" rIns="0" tIns="0" bIns="0">
            <a:normAutofit/>
          </a:bodyPr>
          <a:lstStyle/>
          <a:p>
            <a:r>
              <a:rPr sz="1150" b="1">
                <a:solidFill>
                  <a:srgbClr val="092642"/>
                </a:solidFill>
                <a:latin typeface="Malgun Gothic"/>
              </a:rPr>
              <a:t>실제 업무 도구로 정리하기</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PRINCIPLES</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중급 과정에서 강조할 점</a:t>
            </a:r>
          </a:p>
        </p:txBody>
      </p:sp>
      <p:sp>
        <p:nvSpPr>
          <p:cNvPr id="4" name="TextBox 3"/>
          <p:cNvSpPr txBox="1"/>
          <p:nvPr/>
        </p:nvSpPr>
        <p:spPr>
          <a:xfrm>
            <a:off x="685800" y="1243584"/>
            <a:ext cx="6355080" cy="502920"/>
          </a:xfrm>
          <a:prstGeom prst="rect">
            <a:avLst/>
          </a:prstGeom>
          <a:noFill/>
        </p:spPr>
        <p:txBody>
          <a:bodyPr wrap="square" lIns="0" rIns="0" tIns="0" bIns="0">
            <a:normAutofit/>
          </a:bodyPr>
          <a:lstStyle/>
          <a:p>
            <a:r>
              <a:rPr sz="1400" b="0">
                <a:solidFill>
                  <a:srgbClr val="596579"/>
                </a:solidFill>
                <a:latin typeface="Malgun Gothic"/>
              </a:rPr>
              <a:t>한 번에 완성하려 하지 않는 것이 중요합니다.</a:t>
            </a:r>
          </a:p>
        </p:txBody>
      </p:sp>
      <p:sp>
        <p:nvSpPr>
          <p:cNvPr id="5" name="Rounded Rectangle 4"/>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mp_crop_2401165903223160982.jpg"/>
          <p:cNvPicPr>
            <a:picLocks noChangeAspect="1"/>
          </p:cNvPicPr>
          <p:nvPr/>
        </p:nvPicPr>
        <p:blipFill>
          <a:blip r:embed="rId2"/>
          <a:stretch>
            <a:fillRect/>
          </a:stretch>
        </p:blipFill>
        <p:spPr>
          <a:xfrm>
            <a:off x="7543800" y="777240"/>
            <a:ext cx="3886200" cy="5074920"/>
          </a:xfrm>
          <a:prstGeom prst="rect">
            <a:avLst/>
          </a:prstGeom>
        </p:spPr>
      </p:pic>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중급: 원칙</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57</a:t>
            </a:r>
          </a:p>
        </p:txBody>
      </p:sp>
      <p:sp>
        <p:nvSpPr>
          <p:cNvPr id="10" name="TextBox 9"/>
          <p:cNvSpPr txBox="1"/>
          <p:nvPr/>
        </p:nvSpPr>
        <p:spPr>
          <a:xfrm>
            <a:off x="804672" y="178308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1" name="TextBox 10"/>
          <p:cNvSpPr txBox="1"/>
          <p:nvPr/>
        </p:nvSpPr>
        <p:spPr>
          <a:xfrm>
            <a:off x="1097280" y="1783080"/>
            <a:ext cx="5742431" cy="310896"/>
          </a:xfrm>
          <a:prstGeom prst="rect">
            <a:avLst/>
          </a:prstGeom>
          <a:noFill/>
        </p:spPr>
        <p:txBody>
          <a:bodyPr wrap="square" lIns="0" rIns="0" tIns="0" bIns="0">
            <a:normAutofit/>
          </a:bodyPr>
          <a:lstStyle/>
          <a:p>
            <a:r>
              <a:rPr sz="1450" b="0">
                <a:solidFill>
                  <a:srgbClr val="172033"/>
                </a:solidFill>
                <a:latin typeface="Malgun Gothic"/>
              </a:rPr>
              <a:t>먼저 텍스트 파일로 연습한다</a:t>
            </a:r>
          </a:p>
        </p:txBody>
      </p:sp>
      <p:sp>
        <p:nvSpPr>
          <p:cNvPr id="12" name="TextBox 11"/>
          <p:cNvSpPr txBox="1"/>
          <p:nvPr/>
        </p:nvSpPr>
        <p:spPr>
          <a:xfrm>
            <a:off x="804672" y="2258568"/>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3" name="TextBox 12"/>
          <p:cNvSpPr txBox="1"/>
          <p:nvPr/>
        </p:nvSpPr>
        <p:spPr>
          <a:xfrm>
            <a:off x="1097280" y="2258568"/>
            <a:ext cx="5742431" cy="310896"/>
          </a:xfrm>
          <a:prstGeom prst="rect">
            <a:avLst/>
          </a:prstGeom>
          <a:noFill/>
        </p:spPr>
        <p:txBody>
          <a:bodyPr wrap="square" lIns="0" rIns="0" tIns="0" bIns="0">
            <a:normAutofit/>
          </a:bodyPr>
          <a:lstStyle/>
          <a:p>
            <a:r>
              <a:rPr sz="1450" b="0">
                <a:solidFill>
                  <a:srgbClr val="172033"/>
                </a:solidFill>
                <a:latin typeface="Malgun Gothic"/>
              </a:rPr>
              <a:t>그다음 GUI를 붙인다</a:t>
            </a:r>
          </a:p>
        </p:txBody>
      </p:sp>
      <p:sp>
        <p:nvSpPr>
          <p:cNvPr id="14" name="TextBox 13"/>
          <p:cNvSpPr txBox="1"/>
          <p:nvPr/>
        </p:nvSpPr>
        <p:spPr>
          <a:xfrm>
            <a:off x="804672" y="2734056"/>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5" name="TextBox 14"/>
          <p:cNvSpPr txBox="1"/>
          <p:nvPr/>
        </p:nvSpPr>
        <p:spPr>
          <a:xfrm>
            <a:off x="1097280" y="2734056"/>
            <a:ext cx="5742431" cy="310896"/>
          </a:xfrm>
          <a:prstGeom prst="rect">
            <a:avLst/>
          </a:prstGeom>
          <a:noFill/>
        </p:spPr>
        <p:txBody>
          <a:bodyPr wrap="square" lIns="0" rIns="0" tIns="0" bIns="0">
            <a:normAutofit/>
          </a:bodyPr>
          <a:lstStyle/>
          <a:p>
            <a:r>
              <a:rPr sz="1450" b="0">
                <a:solidFill>
                  <a:srgbClr val="172033"/>
                </a:solidFill>
                <a:latin typeface="Malgun Gothic"/>
              </a:rPr>
              <a:t>마지막에 한글 문서 연결을 붙인다</a:t>
            </a:r>
          </a:p>
        </p:txBody>
      </p:sp>
      <p:sp>
        <p:nvSpPr>
          <p:cNvPr id="16" name="TextBox 15"/>
          <p:cNvSpPr txBox="1"/>
          <p:nvPr/>
        </p:nvSpPr>
        <p:spPr>
          <a:xfrm>
            <a:off x="804672" y="3209544"/>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7" name="TextBox 16"/>
          <p:cNvSpPr txBox="1"/>
          <p:nvPr/>
        </p:nvSpPr>
        <p:spPr>
          <a:xfrm>
            <a:off x="1097280" y="3209544"/>
            <a:ext cx="5742431" cy="310896"/>
          </a:xfrm>
          <a:prstGeom prst="rect">
            <a:avLst/>
          </a:prstGeom>
          <a:noFill/>
        </p:spPr>
        <p:txBody>
          <a:bodyPr wrap="square" lIns="0" rIns="0" tIns="0" bIns="0">
            <a:normAutofit/>
          </a:bodyPr>
          <a:lstStyle/>
          <a:p>
            <a:r>
              <a:rPr sz="1450" b="0">
                <a:solidFill>
                  <a:srgbClr val="172033"/>
                </a:solidFill>
                <a:latin typeface="Malgun Gothic"/>
              </a:rPr>
              <a:t>오류 메시지를 그대로 기록한다</a:t>
            </a:r>
          </a:p>
        </p:txBody>
      </p:sp>
      <p:sp>
        <p:nvSpPr>
          <p:cNvPr id="18" name="TextBox 17"/>
          <p:cNvSpPr txBox="1"/>
          <p:nvPr/>
        </p:nvSpPr>
        <p:spPr>
          <a:xfrm>
            <a:off x="804672" y="3685032"/>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19" name="TextBox 18"/>
          <p:cNvSpPr txBox="1"/>
          <p:nvPr/>
        </p:nvSpPr>
        <p:spPr>
          <a:xfrm>
            <a:off x="1097280" y="3685032"/>
            <a:ext cx="5742431" cy="310896"/>
          </a:xfrm>
          <a:prstGeom prst="rect">
            <a:avLst/>
          </a:prstGeom>
          <a:noFill/>
        </p:spPr>
        <p:txBody>
          <a:bodyPr wrap="square" lIns="0" rIns="0" tIns="0" bIns="0">
            <a:normAutofit/>
          </a:bodyPr>
          <a:lstStyle/>
          <a:p>
            <a:r>
              <a:rPr sz="1450" b="0">
                <a:solidFill>
                  <a:srgbClr val="172033"/>
                </a:solidFill>
                <a:latin typeface="Malgun Gothic"/>
              </a:rPr>
              <a:t>한 번에 여러 기능을 고치지 않는다</a:t>
            </a:r>
          </a:p>
        </p:txBody>
      </p:sp>
      <p:sp>
        <p:nvSpPr>
          <p:cNvPr id="20" name="TextBox 19"/>
          <p:cNvSpPr txBox="1"/>
          <p:nvPr/>
        </p:nvSpPr>
        <p:spPr>
          <a:xfrm>
            <a:off x="804672" y="4160520"/>
            <a:ext cx="182880" cy="228600"/>
          </a:xfrm>
          <a:prstGeom prst="rect">
            <a:avLst/>
          </a:prstGeom>
          <a:noFill/>
        </p:spPr>
        <p:txBody>
          <a:bodyPr wrap="square" lIns="0" rIns="0" tIns="0" bIns="0">
            <a:normAutofit/>
          </a:bodyPr>
          <a:lstStyle/>
          <a:p>
            <a:r>
              <a:rPr sz="1650" b="1">
                <a:solidFill>
                  <a:srgbClr val="D8A94A"/>
                </a:solidFill>
                <a:latin typeface="Malgun Gothic"/>
              </a:rPr>
              <a:t>•</a:t>
            </a:r>
          </a:p>
        </p:txBody>
      </p:sp>
      <p:sp>
        <p:nvSpPr>
          <p:cNvPr id="21" name="TextBox 20"/>
          <p:cNvSpPr txBox="1"/>
          <p:nvPr/>
        </p:nvSpPr>
        <p:spPr>
          <a:xfrm>
            <a:off x="1097280" y="4160520"/>
            <a:ext cx="5742431" cy="310896"/>
          </a:xfrm>
          <a:prstGeom prst="rect">
            <a:avLst/>
          </a:prstGeom>
          <a:noFill/>
        </p:spPr>
        <p:txBody>
          <a:bodyPr wrap="square" lIns="0" rIns="0" tIns="0" bIns="0">
            <a:normAutofit/>
          </a:bodyPr>
          <a:lstStyle/>
          <a:p>
            <a:r>
              <a:rPr sz="1450" b="0">
                <a:solidFill>
                  <a:srgbClr val="172033"/>
                </a:solidFill>
                <a:latin typeface="Malgun Gothic"/>
              </a:rPr>
              <a:t>작동하는 버전을 보관해 둔다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292608"/>
            <a:ext cx="6400800" cy="201168"/>
          </a:xfrm>
          <a:prstGeom prst="rect">
            <a:avLst/>
          </a:prstGeom>
          <a:noFill/>
        </p:spPr>
        <p:txBody>
          <a:bodyPr wrap="square" lIns="0" rIns="0" tIns="0" bIns="0">
            <a:normAutofit/>
          </a:bodyPr>
          <a:lstStyle/>
          <a:p>
            <a:r>
              <a:rPr sz="850" b="1">
                <a:solidFill>
                  <a:srgbClr val="D8A94A"/>
                </a:solidFill>
                <a:latin typeface="Malgun Gothic"/>
              </a:rPr>
              <a:t>WRAP-UP</a:t>
            </a:r>
          </a:p>
        </p:txBody>
      </p:sp>
      <p:sp>
        <p:nvSpPr>
          <p:cNvPr id="3" name="TextBox 2"/>
          <p:cNvSpPr txBox="1"/>
          <p:nvPr/>
        </p:nvSpPr>
        <p:spPr>
          <a:xfrm>
            <a:off x="658368" y="658368"/>
            <a:ext cx="6629400" cy="566928"/>
          </a:xfrm>
          <a:prstGeom prst="rect">
            <a:avLst/>
          </a:prstGeom>
          <a:noFill/>
        </p:spPr>
        <p:txBody>
          <a:bodyPr wrap="square" lIns="0" rIns="0" tIns="0" bIns="0">
            <a:normAutofit/>
          </a:bodyPr>
          <a:lstStyle/>
          <a:p>
            <a:r>
              <a:rPr sz="2900" b="1">
                <a:solidFill>
                  <a:srgbClr val="092642"/>
                </a:solidFill>
                <a:latin typeface="Malgun Gothic"/>
              </a:rPr>
              <a:t>전체 교육 마무리</a:t>
            </a:r>
          </a:p>
        </p:txBody>
      </p:sp>
      <p:sp>
        <p:nvSpPr>
          <p:cNvPr id="4" name="Rounded Rectangle 3"/>
          <p:cNvSpPr/>
          <p:nvPr/>
        </p:nvSpPr>
        <p:spPr>
          <a:xfrm>
            <a:off x="7516368" y="749808"/>
            <a:ext cx="3941063" cy="5129784"/>
          </a:xfrm>
          <a:prstGeom prst="roundRect">
            <a:avLst/>
          </a:prstGeom>
          <a:solidFill>
            <a:srgbClr val="FFFFFF"/>
          </a:solidFill>
          <a:ln w="1016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mp_crop_1452829355718277594.jpg"/>
          <p:cNvPicPr>
            <a:picLocks noChangeAspect="1"/>
          </p:cNvPicPr>
          <p:nvPr/>
        </p:nvPicPr>
        <p:blipFill>
          <a:blip r:embed="rId2"/>
          <a:stretch>
            <a:fillRect/>
          </a:stretch>
        </p:blipFill>
        <p:spPr>
          <a:xfrm>
            <a:off x="7543800" y="777240"/>
            <a:ext cx="3886200" cy="5074920"/>
          </a:xfrm>
          <a:prstGeom prst="rect">
            <a:avLst/>
          </a:prstGeom>
        </p:spPr>
      </p:pic>
      <p:sp>
        <p:nvSpPr>
          <p:cNvPr id="6" name="Rectangle 5"/>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마무리</a:t>
            </a:r>
          </a:p>
        </p:txBody>
      </p:sp>
      <p:sp>
        <p:nvSpPr>
          <p:cNvPr id="8" name="TextBox 7"/>
          <p:cNvSpPr txBox="1"/>
          <p:nvPr/>
        </p:nvSpPr>
        <p:spPr>
          <a:xfrm>
            <a:off x="11201400" y="6556248"/>
            <a:ext cx="384048" cy="164592"/>
          </a:xfrm>
          <a:prstGeom prst="rect">
            <a:avLst/>
          </a:prstGeom>
          <a:noFill/>
        </p:spPr>
        <p:txBody>
          <a:bodyPr wrap="square" lIns="0" rIns="0" tIns="0" bIns="0">
            <a:normAutofit/>
          </a:bodyPr>
          <a:lstStyle/>
          <a:p>
            <a:r>
              <a:t>58</a:t>
            </a:r>
          </a:p>
        </p:txBody>
      </p:sp>
      <p:sp>
        <p:nvSpPr>
          <p:cNvPr id="9" name="Rectangle 8"/>
          <p:cNvSpPr/>
          <p:nvPr/>
        </p:nvSpPr>
        <p:spPr>
          <a:xfrm>
            <a:off x="786384" y="1554480"/>
            <a:ext cx="1828800" cy="62179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45920"/>
            <a:ext cx="1700784" cy="475488"/>
          </a:xfrm>
          <a:prstGeom prst="rect">
            <a:avLst/>
          </a:prstGeom>
          <a:noFill/>
        </p:spPr>
        <p:txBody>
          <a:bodyPr wrap="square" lIns="0" rIns="0" tIns="0" bIns="0" anchor="ctr">
            <a:normAutofit/>
          </a:bodyPr>
          <a:lstStyle/>
          <a:p>
            <a:pPr algn="ctr"/>
            <a:r>
              <a:rPr sz="1080" b="1">
                <a:solidFill>
                  <a:srgbClr val="FFFFFF"/>
                </a:solidFill>
                <a:latin typeface="Malgun Gothic"/>
              </a:rPr>
              <a:t>구분</a:t>
            </a:r>
          </a:p>
        </p:txBody>
      </p:sp>
      <p:sp>
        <p:nvSpPr>
          <p:cNvPr id="11" name="Rectangle 10"/>
          <p:cNvSpPr/>
          <p:nvPr/>
        </p:nvSpPr>
        <p:spPr>
          <a:xfrm>
            <a:off x="2615184" y="1554480"/>
            <a:ext cx="4937760" cy="621792"/>
          </a:xfrm>
          <a:prstGeom prst="rect">
            <a:avLst/>
          </a:prstGeom>
          <a:solidFill>
            <a:srgbClr val="092642"/>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79191" y="1645920"/>
            <a:ext cx="4809744" cy="475488"/>
          </a:xfrm>
          <a:prstGeom prst="rect">
            <a:avLst/>
          </a:prstGeom>
          <a:noFill/>
        </p:spPr>
        <p:txBody>
          <a:bodyPr wrap="square" lIns="0" rIns="0" tIns="0" bIns="0" anchor="ctr">
            <a:normAutofit/>
          </a:bodyPr>
          <a:lstStyle/>
          <a:p>
            <a:pPr algn="ctr"/>
            <a:r>
              <a:rPr sz="1080" b="1">
                <a:solidFill>
                  <a:srgbClr val="FFFFFF"/>
                </a:solidFill>
                <a:latin typeface="Malgun Gothic"/>
              </a:rPr>
              <a:t>핵심 내용</a:t>
            </a:r>
          </a:p>
        </p:txBody>
      </p:sp>
      <p:sp>
        <p:nvSpPr>
          <p:cNvPr id="13" name="Rectangle 12"/>
          <p:cNvSpPr/>
          <p:nvPr/>
        </p:nvSpPr>
        <p:spPr>
          <a:xfrm>
            <a:off x="786384" y="2176272"/>
            <a:ext cx="1828800" cy="62179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267712"/>
            <a:ext cx="1700784" cy="475488"/>
          </a:xfrm>
          <a:prstGeom prst="rect">
            <a:avLst/>
          </a:prstGeom>
          <a:noFill/>
        </p:spPr>
        <p:txBody>
          <a:bodyPr wrap="square" lIns="0" rIns="0" tIns="0" bIns="0" anchor="ctr">
            <a:normAutofit/>
          </a:bodyPr>
          <a:lstStyle/>
          <a:p>
            <a:pPr algn="ctr"/>
            <a:r>
              <a:rPr sz="1070" b="0">
                <a:solidFill>
                  <a:srgbClr val="172033"/>
                </a:solidFill>
                <a:latin typeface="Malgun Gothic"/>
              </a:rPr>
              <a:t>초급</a:t>
            </a:r>
          </a:p>
        </p:txBody>
      </p:sp>
      <p:sp>
        <p:nvSpPr>
          <p:cNvPr id="15" name="Rectangle 14"/>
          <p:cNvSpPr/>
          <p:nvPr/>
        </p:nvSpPr>
        <p:spPr>
          <a:xfrm>
            <a:off x="2615184" y="2176272"/>
            <a:ext cx="4937760" cy="62179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79191" y="2267712"/>
            <a:ext cx="4809744" cy="475488"/>
          </a:xfrm>
          <a:prstGeom prst="rect">
            <a:avLst/>
          </a:prstGeom>
          <a:noFill/>
        </p:spPr>
        <p:txBody>
          <a:bodyPr wrap="square" lIns="0" rIns="0" tIns="0" bIns="0" anchor="ctr">
            <a:normAutofit/>
          </a:bodyPr>
          <a:lstStyle/>
          <a:p>
            <a:pPr algn="ctr"/>
            <a:r>
              <a:rPr sz="1070" b="0">
                <a:solidFill>
                  <a:srgbClr val="172033"/>
                </a:solidFill>
                <a:latin typeface="Malgun Gothic"/>
              </a:rPr>
              <a:t>개발환경 세팅, 엑셀 취합, 오류 해결, 요구사항 변경</a:t>
            </a:r>
          </a:p>
        </p:txBody>
      </p:sp>
      <p:sp>
        <p:nvSpPr>
          <p:cNvPr id="17" name="Rectangle 16"/>
          <p:cNvSpPr/>
          <p:nvPr/>
        </p:nvSpPr>
        <p:spPr>
          <a:xfrm>
            <a:off x="786384" y="2798064"/>
            <a:ext cx="1828800" cy="62179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2889504"/>
            <a:ext cx="1700784" cy="475488"/>
          </a:xfrm>
          <a:prstGeom prst="rect">
            <a:avLst/>
          </a:prstGeom>
          <a:noFill/>
        </p:spPr>
        <p:txBody>
          <a:bodyPr wrap="square" lIns="0" rIns="0" tIns="0" bIns="0" anchor="ctr">
            <a:normAutofit/>
          </a:bodyPr>
          <a:lstStyle/>
          <a:p>
            <a:pPr algn="ctr"/>
            <a:r>
              <a:rPr sz="1070" b="0">
                <a:solidFill>
                  <a:srgbClr val="172033"/>
                </a:solidFill>
                <a:latin typeface="Malgun Gothic"/>
              </a:rPr>
              <a:t>중급</a:t>
            </a:r>
          </a:p>
        </p:txBody>
      </p:sp>
      <p:sp>
        <p:nvSpPr>
          <p:cNvPr id="19" name="Rectangle 18"/>
          <p:cNvSpPr/>
          <p:nvPr/>
        </p:nvSpPr>
        <p:spPr>
          <a:xfrm>
            <a:off x="2615184" y="2798064"/>
            <a:ext cx="4937760" cy="62179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79191" y="2889504"/>
            <a:ext cx="4809744" cy="475488"/>
          </a:xfrm>
          <a:prstGeom prst="rect">
            <a:avLst/>
          </a:prstGeom>
          <a:noFill/>
        </p:spPr>
        <p:txBody>
          <a:bodyPr wrap="square" lIns="0" rIns="0" tIns="0" bIns="0" anchor="ctr">
            <a:normAutofit/>
          </a:bodyPr>
          <a:lstStyle/>
          <a:p>
            <a:pPr algn="ctr"/>
            <a:r>
              <a:rPr sz="1070" b="0">
                <a:solidFill>
                  <a:srgbClr val="172033"/>
                </a:solidFill>
                <a:latin typeface="Malgun Gothic"/>
              </a:rPr>
              <a:t>표 번호 찾기, GUI, 한글 연결 구조, 예외 처리</a:t>
            </a:r>
          </a:p>
        </p:txBody>
      </p:sp>
      <p:sp>
        <p:nvSpPr>
          <p:cNvPr id="21" name="Rectangle 20"/>
          <p:cNvSpPr/>
          <p:nvPr/>
        </p:nvSpPr>
        <p:spPr>
          <a:xfrm>
            <a:off x="786384" y="3419856"/>
            <a:ext cx="1828800" cy="62179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511296"/>
            <a:ext cx="1700784" cy="475488"/>
          </a:xfrm>
          <a:prstGeom prst="rect">
            <a:avLst/>
          </a:prstGeom>
          <a:noFill/>
        </p:spPr>
        <p:txBody>
          <a:bodyPr wrap="square" lIns="0" rIns="0" tIns="0" bIns="0" anchor="ctr">
            <a:normAutofit/>
          </a:bodyPr>
          <a:lstStyle/>
          <a:p>
            <a:pPr algn="ctr"/>
            <a:r>
              <a:rPr sz="1070" b="0">
                <a:solidFill>
                  <a:srgbClr val="172033"/>
                </a:solidFill>
                <a:latin typeface="Malgun Gothic"/>
              </a:rPr>
              <a:t>공통</a:t>
            </a:r>
          </a:p>
        </p:txBody>
      </p:sp>
      <p:sp>
        <p:nvSpPr>
          <p:cNvPr id="23" name="Rectangle 22"/>
          <p:cNvSpPr/>
          <p:nvPr/>
        </p:nvSpPr>
        <p:spPr>
          <a:xfrm>
            <a:off x="2615184" y="3419856"/>
            <a:ext cx="4937760" cy="621792"/>
          </a:xfrm>
          <a:prstGeom prst="rect">
            <a:avLst/>
          </a:prstGeom>
          <a:solidFill>
            <a:srgbClr val="FFFFFF"/>
          </a:solidFill>
          <a:ln w="7620">
            <a:solidFill>
              <a:srgbClr val="D7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79191" y="3511296"/>
            <a:ext cx="4809744" cy="475488"/>
          </a:xfrm>
          <a:prstGeom prst="rect">
            <a:avLst/>
          </a:prstGeom>
          <a:noFill/>
        </p:spPr>
        <p:txBody>
          <a:bodyPr wrap="square" lIns="0" rIns="0" tIns="0" bIns="0" anchor="ctr">
            <a:normAutofit/>
          </a:bodyPr>
          <a:lstStyle/>
          <a:p>
            <a:pPr algn="ctr"/>
            <a:r>
              <a:rPr sz="1070" b="0">
                <a:solidFill>
                  <a:srgbClr val="172033"/>
                </a:solidFill>
                <a:latin typeface="Malgun Gothic"/>
              </a:rPr>
              <a:t>업무 절차를 설명하고 AI와 함께 고쳐 가기</a:t>
            </a:r>
          </a:p>
        </p:txBody>
      </p:sp>
      <p:sp>
        <p:nvSpPr>
          <p:cNvPr id="25" name="Rounded Rectangle 24"/>
          <p:cNvSpPr/>
          <p:nvPr/>
        </p:nvSpPr>
        <p:spPr>
          <a:xfrm>
            <a:off x="786384" y="4709160"/>
            <a:ext cx="6766560" cy="713232"/>
          </a:xfrm>
          <a:prstGeom prst="roundRect">
            <a:avLst/>
          </a:prstGeom>
          <a:solidFill>
            <a:srgbClr val="FFF7E6"/>
          </a:solidFill>
          <a:ln w="10160">
            <a:solidFill>
              <a:srgbClr val="F0D7A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4837176"/>
            <a:ext cx="6437376" cy="493776"/>
          </a:xfrm>
          <a:prstGeom prst="rect">
            <a:avLst/>
          </a:prstGeom>
          <a:noFill/>
        </p:spPr>
        <p:txBody>
          <a:bodyPr wrap="square" lIns="0" rIns="0" tIns="0" bIns="0">
            <a:normAutofit/>
          </a:bodyPr>
          <a:lstStyle/>
          <a:p>
            <a:r>
              <a:rPr sz="1220" b="0">
                <a:solidFill>
                  <a:srgbClr val="5A4217"/>
                </a:solidFill>
                <a:latin typeface="Malgun Gothic"/>
              </a:rPr>
              <a:t>바이브 코딩의 핵심은 코드를 외우는 것이 아니라, 반복 업무를 구조화해서 AI에게 설명하는 것입니다.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92642"/>
        </a:solidFill>
        <a:effectLst/>
      </p:bgPr>
    </p:bg>
    <p:spTree>
      <p:nvGrpSpPr>
        <p:cNvPr id="1" name=""/>
        <p:cNvGrpSpPr/>
        <p:nvPr/>
      </p:nvGrpSpPr>
      <p:grpSpPr/>
      <p:pic>
        <p:nvPicPr>
          <p:cNvPr id="2" name="Picture 1" descr="tmp_crop_2255917672859498630.jpg"/>
          <p:cNvPicPr>
            <a:picLocks noChangeAspect="1"/>
          </p:cNvPicPr>
          <p:nvPr/>
        </p:nvPicPr>
        <p:blipFill>
          <a:blip r:embed="rId2"/>
          <a:stretch>
            <a:fillRect/>
          </a:stretch>
        </p:blipFill>
        <p:spPr>
          <a:xfrm>
            <a:off x="5852160" y="0"/>
            <a:ext cx="6336792" cy="6858000"/>
          </a:xfrm>
          <a:prstGeom prst="rect">
            <a:avLst/>
          </a:prstGeom>
        </p:spPr>
      </p:pic>
      <p:sp>
        <p:nvSpPr>
          <p:cNvPr id="3" name="Rectangle 2"/>
          <p:cNvSpPr/>
          <p:nvPr/>
        </p:nvSpPr>
        <p:spPr>
          <a:xfrm>
            <a:off x="0" y="0"/>
            <a:ext cx="6126480" cy="6858000"/>
          </a:xfrm>
          <a:prstGeom prst="rect">
            <a:avLst/>
          </a:prstGeom>
          <a:solidFill>
            <a:srgbClr val="092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60120"/>
            <a:ext cx="4389120" cy="274320"/>
          </a:xfrm>
          <a:prstGeom prst="rect">
            <a:avLst/>
          </a:prstGeom>
          <a:noFill/>
        </p:spPr>
        <p:txBody>
          <a:bodyPr wrap="square" lIns="0" rIns="0" tIns="0" bIns="0">
            <a:normAutofit/>
          </a:bodyPr>
          <a:lstStyle/>
          <a:p>
            <a:r>
              <a:rPr sz="1600" b="1">
                <a:solidFill>
                  <a:srgbClr val="F3C56B"/>
                </a:solidFill>
                <a:latin typeface="Malgun Gothic"/>
              </a:rPr>
              <a:t>마지막 메시지</a:t>
            </a:r>
          </a:p>
        </p:txBody>
      </p:sp>
      <p:sp>
        <p:nvSpPr>
          <p:cNvPr id="5" name="TextBox 4"/>
          <p:cNvSpPr txBox="1"/>
          <p:nvPr/>
        </p:nvSpPr>
        <p:spPr>
          <a:xfrm>
            <a:off x="685800" y="1508760"/>
            <a:ext cx="4892040" cy="2057400"/>
          </a:xfrm>
          <a:prstGeom prst="rect">
            <a:avLst/>
          </a:prstGeom>
          <a:noFill/>
        </p:spPr>
        <p:txBody>
          <a:bodyPr wrap="square" lIns="0" rIns="0" tIns="0" bIns="0">
            <a:normAutofit/>
          </a:bodyPr>
          <a:lstStyle/>
          <a:p>
            <a:r>
              <a:rPr sz="3600" b="1">
                <a:solidFill>
                  <a:srgbClr val="FFFFFF"/>
                </a:solidFill>
                <a:latin typeface="Malgun Gothic"/>
              </a:rPr>
              <a:t>반복 작업은
컴퓨터에게,
검토와 판단은
사람에게.</a:t>
            </a:r>
          </a:p>
        </p:txBody>
      </p:sp>
      <p:sp>
        <p:nvSpPr>
          <p:cNvPr id="6" name="TextBox 5"/>
          <p:cNvSpPr txBox="1"/>
          <p:nvPr/>
        </p:nvSpPr>
        <p:spPr>
          <a:xfrm>
            <a:off x="713232" y="4251960"/>
            <a:ext cx="4754880" cy="777240"/>
          </a:xfrm>
          <a:prstGeom prst="rect">
            <a:avLst/>
          </a:prstGeom>
          <a:noFill/>
        </p:spPr>
        <p:txBody>
          <a:bodyPr wrap="square" lIns="0" rIns="0" tIns="0" bIns="0">
            <a:normAutofit/>
          </a:bodyPr>
          <a:lstStyle/>
          <a:p>
            <a:r>
              <a:rPr sz="1700" b="0">
                <a:solidFill>
                  <a:srgbClr val="EAF2FA"/>
                </a:solidFill>
                <a:latin typeface="Malgun Gothic"/>
              </a:rPr>
              <a:t>개발환경 세팅을 넘으면
작은 자동화 도구를 하나씩 만들어 갈 수 있습니다.</a:t>
            </a:r>
          </a:p>
        </p:txBody>
      </p:sp>
      <p:sp>
        <p:nvSpPr>
          <p:cNvPr id="7" name="Rectangle 6"/>
          <p:cNvSpPr/>
          <p:nvPr/>
        </p:nvSpPr>
        <p:spPr>
          <a:xfrm>
            <a:off x="594360" y="6473952"/>
            <a:ext cx="10972800" cy="4572"/>
          </a:xfrm>
          <a:prstGeom prst="rect">
            <a:avLst/>
          </a:prstGeom>
          <a:solidFill>
            <a:srgbClr val="D7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83680"/>
            <a:ext cx="6858000" cy="164592"/>
          </a:xfrm>
          <a:prstGeom prst="rect">
            <a:avLst/>
          </a:prstGeom>
          <a:noFill/>
        </p:spPr>
        <p:txBody>
          <a:bodyPr wrap="square" lIns="0" rIns="0" tIns="0" bIns="0">
            <a:normAutofit/>
          </a:bodyPr>
          <a:lstStyle/>
          <a:p>
            <a:r>
              <a:rPr sz="750" b="0">
                <a:solidFill>
                  <a:srgbClr val="7A8494"/>
                </a:solidFill>
                <a:latin typeface="Malgun Gothic"/>
              </a:rPr>
              <a:t>마무리</a:t>
            </a:r>
          </a:p>
        </p:txBody>
      </p:sp>
      <p:sp>
        <p:nvSpPr>
          <p:cNvPr id="9" name="TextBox 8"/>
          <p:cNvSpPr txBox="1"/>
          <p:nvPr/>
        </p:nvSpPr>
        <p:spPr>
          <a:xfrm>
            <a:off x="11201400" y="6556248"/>
            <a:ext cx="384048" cy="164592"/>
          </a:xfrm>
          <a:prstGeom prst="rect">
            <a:avLst/>
          </a:prstGeom>
          <a:noFill/>
        </p:spPr>
        <p:txBody>
          <a:bodyPr wrap="square" lIns="0" rIns="0" tIns="0" bIns="0">
            <a:normAutofit/>
          </a:bodyPr>
          <a:lstStyle/>
          <a:p>
            <a:r>
              <a:t>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